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16"/>
  </p:notesMasterIdLst>
  <p:handoutMasterIdLst>
    <p:handoutMasterId r:id="rId17"/>
  </p:handoutMasterIdLst>
  <p:sldIdLst>
    <p:sldId id="271" r:id="rId2"/>
    <p:sldId id="257" r:id="rId3"/>
    <p:sldId id="266" r:id="rId4"/>
    <p:sldId id="258" r:id="rId5"/>
    <p:sldId id="267" r:id="rId6"/>
    <p:sldId id="259" r:id="rId7"/>
    <p:sldId id="260" r:id="rId8"/>
    <p:sldId id="261" r:id="rId9"/>
    <p:sldId id="268" r:id="rId10"/>
    <p:sldId id="269" r:id="rId11"/>
    <p:sldId id="263" r:id="rId12"/>
    <p:sldId id="264" r:id="rId13"/>
    <p:sldId id="265" r:id="rId14"/>
    <p:sldId id="272" r:id="rId15"/>
  </p:sldIdLst>
  <p:sldSz cx="9144000" cy="5143500" type="screen16x9"/>
  <p:notesSz cx="5143500" cy="9144000"/>
  <p:embeddedFontLst>
    <p:embeddedFont>
      <p:font typeface="DM Sans" pitchFamily="2" charset="0"/>
      <p:regular r:id="rId18"/>
      <p:bold r:id="rId19"/>
      <p:italic r:id="rId20"/>
      <p:boldItalic r:id="rId21"/>
    </p:embeddedFont>
    <p:embeddedFont>
      <p:font typeface="Poppins" panose="000005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0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2E209913-C5D6-A9C2-6C1A-079C21F723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M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2C1E0D6-A840-F4DF-739B-0185F930596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DE65C3-4B73-4807-B79F-DE6480A98F53}" type="datetimeFigureOut">
              <a:rPr lang="fr-MA" smtClean="0"/>
              <a:t>09/04/2026</a:t>
            </a:fld>
            <a:endParaRPr lang="fr-M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A88FD79-CA85-6736-1D68-090A364DE3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M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5E31F74-36D3-BD46-6D56-F6A3DCA809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126218-5B43-447C-855B-2B9CF920A58E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777151818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042E2AD-E320-7B0D-21C5-2DFF6ABD7B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fr-M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EC480BD-FEC5-ACDF-9308-2B2C4C6D835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fr-M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2EBE8C7-D0B5-F400-D7EB-82143D6BA7E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fr-M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1ABD48A-209C-599A-1D26-535094BC38C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fr-MA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838E058-D9E7-56C2-485F-FD4A7ADFF3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fr-MA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CE4FEFF-5500-E0A8-AF43-10E5293727E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fr-MA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37AB2D1-2B1F-9DEF-C6FA-DC030B22ED0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fr-MA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64C61E3-88B3-5E09-CCA2-11BA8BD8DE3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fr-MA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A0D2AF2-2D2C-2A14-3194-69FFD9B53F8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fr-MA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CE9A05F-07CB-66B3-6A67-268689D6090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fr-MA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BBD3820-D683-BA9B-66FB-6B761F61FB4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fr-MA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9CB147C-E048-63D7-B6AD-D6A01889836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fr-MA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emf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emf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396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M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079"/>
            <a:ext cx="9144000" cy="381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535" y="224507"/>
            <a:ext cx="4763" cy="2571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872" y="215205"/>
            <a:ext cx="116205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0A23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HESTIM</a:t>
            </a:r>
            <a:endParaRPr lang="en-US" sz="700" dirty="0"/>
          </a:p>
        </p:txBody>
      </p:sp>
      <p:sp>
        <p:nvSpPr>
          <p:cNvPr id="6" name="Text 2"/>
          <p:cNvSpPr/>
          <p:nvPr/>
        </p:nvSpPr>
        <p:spPr>
          <a:xfrm>
            <a:off x="571872" y="366675"/>
            <a:ext cx="116205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Engineering &amp; Business School</a:t>
            </a:r>
            <a:endParaRPr lang="en-US" sz="600" dirty="0"/>
          </a:p>
        </p:txBody>
      </p:sp>
      <p:sp>
        <p:nvSpPr>
          <p:cNvPr id="7" name="Text 3"/>
          <p:cNvSpPr/>
          <p:nvPr/>
        </p:nvSpPr>
        <p:spPr>
          <a:xfrm>
            <a:off x="7341877" y="309531"/>
            <a:ext cx="1275792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spcAft>
                <a:spcPts val="607"/>
              </a:spcAft>
              <a:buNone/>
            </a:pPr>
            <a:r>
              <a:rPr lang="en-US" sz="700" b="1" dirty="0">
                <a:solidFill>
                  <a:srgbClr val="00C8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 PACTE · LIVRABLE 2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458130" y="1190848"/>
            <a:ext cx="3838575" cy="18430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29"/>
              </a:lnSpc>
              <a:buNone/>
            </a:pPr>
            <a:r>
              <a:rPr lang="en-US" sz="3400" b="1" dirty="0">
                <a:solidFill>
                  <a:srgbClr val="0A23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Système</a:t>
            </a:r>
            <a:endParaRPr lang="en-US" sz="3400" dirty="0"/>
          </a:p>
          <a:p>
            <a:pPr marL="0" indent="0" algn="l">
              <a:lnSpc>
                <a:spcPts val="3629"/>
              </a:lnSpc>
              <a:buNone/>
            </a:pPr>
            <a:r>
              <a:rPr lang="en-US" sz="3400" b="1" dirty="0">
                <a:solidFill>
                  <a:srgbClr val="00C8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Intelligent de</a:t>
            </a:r>
            <a:endParaRPr lang="en-US" sz="3400" dirty="0"/>
          </a:p>
          <a:p>
            <a:pPr marL="0" indent="0" algn="l">
              <a:lnSpc>
                <a:spcPts val="3629"/>
              </a:lnSpc>
              <a:buNone/>
            </a:pPr>
            <a:r>
              <a:rPr lang="en-US" sz="3400" b="1" dirty="0">
                <a:solidFill>
                  <a:srgbClr val="0A23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Gestion des</a:t>
            </a:r>
            <a:endParaRPr lang="en-US" sz="3400" dirty="0"/>
          </a:p>
          <a:p>
            <a:pPr marL="0" indent="0" algn="l">
              <a:lnSpc>
                <a:spcPts val="3629"/>
              </a:lnSpc>
              <a:buNone/>
            </a:pPr>
            <a:r>
              <a:rPr lang="en-US" sz="3400" b="1" dirty="0">
                <a:solidFill>
                  <a:srgbClr val="0A23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Poubelles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458130" y="3112033"/>
            <a:ext cx="38385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spcBef>
                <a:spcPts val="607"/>
              </a:spcBef>
              <a:buNone/>
            </a:pPr>
            <a:r>
              <a:rPr lang="en-US" sz="9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Smart Waste Management System — </a:t>
            </a:r>
            <a:r>
              <a:rPr lang="en-US" sz="900" b="1" dirty="0">
                <a:solidFill>
                  <a:srgbClr val="F4A8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basé sur LoRaWAN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57237" y="3768514"/>
            <a:ext cx="1557338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spcAft>
                <a:spcPts val="243"/>
              </a:spcAft>
              <a:buNone/>
            </a:pPr>
            <a:r>
              <a:rPr lang="en-US" sz="600" b="1" dirty="0">
                <a:solidFill>
                  <a:srgbClr val="00C8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RÉALISÉ PAR</a:t>
            </a:r>
            <a:endParaRPr lang="en-US" sz="600" dirty="0"/>
          </a:p>
        </p:txBody>
      </p:sp>
      <p:sp>
        <p:nvSpPr>
          <p:cNvPr id="11" name="Text 7"/>
          <p:cNvSpPr/>
          <p:nvPr/>
        </p:nvSpPr>
        <p:spPr>
          <a:xfrm>
            <a:off x="457237" y="3921844"/>
            <a:ext cx="1557338" cy="3286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Saad Fettah · Boubker Cheyoukh</a:t>
            </a:r>
            <a:endParaRPr lang="en-US" sz="700" dirty="0"/>
          </a:p>
          <a:p>
            <a:pPr marL="0" indent="0" algn="l">
              <a:lnSpc>
                <a:spcPts val="1285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Abderrazzak Elatmani · Mehdi Salek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2380543" y="3768514"/>
            <a:ext cx="71437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spcAft>
                <a:spcPts val="243"/>
              </a:spcAft>
              <a:buNone/>
            </a:pPr>
            <a:r>
              <a:rPr lang="en-US" sz="600" b="1" dirty="0">
                <a:solidFill>
                  <a:srgbClr val="F4A8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ENCADRÉ PAR</a:t>
            </a:r>
            <a:endParaRPr lang="en-US" sz="600" dirty="0"/>
          </a:p>
        </p:txBody>
      </p:sp>
      <p:sp>
        <p:nvSpPr>
          <p:cNvPr id="13" name="Text 9"/>
          <p:cNvSpPr/>
          <p:nvPr/>
        </p:nvSpPr>
        <p:spPr>
          <a:xfrm>
            <a:off x="2380543" y="3921844"/>
            <a:ext cx="1048457" cy="3286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Mme. Bouhadou</a:t>
            </a:r>
            <a:endParaRPr lang="en-US" sz="800" dirty="0"/>
          </a:p>
          <a:p>
            <a:pPr marL="0" indent="0" algn="l">
              <a:lnSpc>
                <a:spcPts val="1285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Mme. WAHIA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58130" y="4886958"/>
            <a:ext cx="3838575" cy="15273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FFFFFF"/>
                </a:solidFill>
                <a:highlight>
                  <a:srgbClr val="0A2342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Année 2025 – 2026</a:t>
            </a:r>
            <a:endParaRPr lang="en-US" sz="700" dirty="0"/>
          </a:p>
        </p:txBody>
      </p:sp>
      <p:sp>
        <p:nvSpPr>
          <p:cNvPr id="17" name="Text 11"/>
          <p:cNvSpPr/>
          <p:nvPr/>
        </p:nvSpPr>
        <p:spPr>
          <a:xfrm>
            <a:off x="8617669" y="4886958"/>
            <a:ext cx="252412" cy="1428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b="1" dirty="0">
                <a:solidFill>
                  <a:srgbClr val="00C8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r>
              <a:rPr lang="en-US" sz="700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/14</a:t>
            </a:r>
            <a:endParaRPr lang="en-US" sz="7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5118757"/>
            <a:ext cx="9144000" cy="23812"/>
          </a:xfrm>
          <a:prstGeom prst="rect">
            <a:avLst/>
          </a:prstGeom>
        </p:spPr>
      </p:pic>
      <p:pic>
        <p:nvPicPr>
          <p:cNvPr id="19" name="Image 18" descr="Smart-city : La gestion intelligente des déchets - DigitalCorner">
            <a:extLst>
              <a:ext uri="{FF2B5EF4-FFF2-40B4-BE49-F238E27FC236}">
                <a16:creationId xmlns:a16="http://schemas.microsoft.com/office/drawing/2014/main" id="{ECE891F7-2152-1162-BD5D-EF123C26334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7464" y="1234893"/>
            <a:ext cx="4777737" cy="2578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" name="Google Shape;38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12"/>
            <a:ext cx="9144000" cy="61912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547985" y="307553"/>
            <a:ext cx="3419475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800"/>
              <a:buFont typeface="Poppins"/>
              <a:buNone/>
            </a:pPr>
            <a:r>
              <a:rPr lang="en-US" sz="800" b="1" i="0" u="none" strike="noStrike" cap="none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PACTE – LIVRABLE 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47985" y="525066"/>
            <a:ext cx="4318377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800"/>
              <a:buFont typeface="Poppins"/>
              <a:buNone/>
            </a:pPr>
            <a:r>
              <a:rPr lang="en-US" sz="2800" b="1" i="0" u="none" strike="noStrike" cap="none" dirty="0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Table des Matières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8047286" y="525066"/>
            <a:ext cx="547687" cy="547687"/>
          </a:xfrm>
          <a:prstGeom prst="roundRect">
            <a:avLst>
              <a:gd name="adj" fmla="val 23229"/>
            </a:avLst>
          </a:prstGeom>
          <a:solidFill>
            <a:srgbClr val="0A23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" name="Google Shape;42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83984" y="661764"/>
            <a:ext cx="274290" cy="27429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>
            <a:off x="548134" y="1235497"/>
            <a:ext cx="3910012" cy="866775"/>
          </a:xfrm>
          <a:prstGeom prst="roundRect">
            <a:avLst>
              <a:gd name="adj" fmla="val 13911"/>
            </a:avLst>
          </a:prstGeom>
          <a:solidFill>
            <a:srgbClr val="FFFFFF"/>
          </a:solidFill>
          <a:ln>
            <a:noFill/>
          </a:ln>
          <a:effectLst>
            <a:outerShdw blurRad="114300" dist="19050" dir="5400000" algn="bl" rotWithShape="0">
              <a:srgbClr val="0A2342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777180" y="1388641"/>
            <a:ext cx="457200" cy="457200"/>
          </a:xfrm>
          <a:prstGeom prst="roundRect">
            <a:avLst>
              <a:gd name="adj" fmla="val 8333"/>
            </a:avLst>
          </a:prstGeom>
          <a:solidFill>
            <a:srgbClr val="0A234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8400"/>
              </a:lnSpc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500"/>
              <a:buFont typeface="Poppins"/>
              <a:buNone/>
            </a:pPr>
            <a:r>
              <a:rPr lang="en-US" sz="1500" b="1" i="0" u="none" strike="noStrike" cap="none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416025" y="1387711"/>
            <a:ext cx="167163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400"/>
              <a:buFont typeface="Poppins"/>
              <a:buNone/>
            </a:pPr>
            <a:r>
              <a:rPr lang="en-US" sz="1400" b="1" i="0" u="none" strike="noStrike" cap="none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416025" y="1694817"/>
            <a:ext cx="1671638" cy="176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DM Sans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Contexte &amp; objectifs du projet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416248" y="1934282"/>
            <a:ext cx="276225" cy="14288"/>
          </a:xfrm>
          <a:prstGeom prst="roundRect">
            <a:avLst>
              <a:gd name="adj" fmla="val 799972"/>
            </a:avLst>
          </a:prstGeom>
          <a:solidFill>
            <a:srgbClr val="00C8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4685854" y="1235497"/>
            <a:ext cx="3910012" cy="866775"/>
          </a:xfrm>
          <a:prstGeom prst="roundRect">
            <a:avLst>
              <a:gd name="adj" fmla="val 13911"/>
            </a:avLst>
          </a:prstGeom>
          <a:solidFill>
            <a:srgbClr val="0A2342"/>
          </a:solidFill>
          <a:ln>
            <a:noFill/>
          </a:ln>
          <a:effectLst>
            <a:outerShdw blurRad="114300" dist="19050" dir="5400000" algn="bl" rotWithShape="0">
              <a:srgbClr val="0A2342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914900" y="1388641"/>
            <a:ext cx="457200" cy="457200"/>
          </a:xfrm>
          <a:prstGeom prst="roundRect">
            <a:avLst>
              <a:gd name="adj" fmla="val 8333"/>
            </a:avLst>
          </a:prstGeom>
          <a:solidFill>
            <a:srgbClr val="00C89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84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500"/>
              <a:buFont typeface="Poppins"/>
              <a:buNone/>
            </a:pPr>
            <a:r>
              <a:rPr lang="en-US" sz="1500" b="1" i="0" u="none" strike="noStrike" cap="none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II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555568" y="1387711"/>
            <a:ext cx="201453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Diagrammes UML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555568" y="1694817"/>
            <a:ext cx="2014538" cy="176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DM Sans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Cas d'utilisation · Classes · Séquence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553968" y="1934282"/>
            <a:ext cx="276225" cy="14288"/>
          </a:xfrm>
          <a:prstGeom prst="roundRect">
            <a:avLst>
              <a:gd name="adj" fmla="val 799972"/>
            </a:avLst>
          </a:prstGeom>
          <a:solidFill>
            <a:srgbClr val="00C8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548134" y="2331727"/>
            <a:ext cx="3910012" cy="1047750"/>
          </a:xfrm>
          <a:prstGeom prst="roundRect">
            <a:avLst>
              <a:gd name="adj" fmla="val 9521"/>
            </a:avLst>
          </a:prstGeom>
          <a:solidFill>
            <a:srgbClr val="FFFFFF"/>
          </a:solidFill>
          <a:ln>
            <a:noFill/>
          </a:ln>
          <a:effectLst>
            <a:outerShdw blurRad="114300" dist="19050" dir="5400000" algn="bl" rotWithShape="0">
              <a:srgbClr val="0A2342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777180" y="2486248"/>
            <a:ext cx="457200" cy="457200"/>
          </a:xfrm>
          <a:prstGeom prst="roundRect">
            <a:avLst>
              <a:gd name="adj" fmla="val 8333"/>
            </a:avLst>
          </a:prstGeom>
          <a:solidFill>
            <a:srgbClr val="00C89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84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500"/>
              <a:buFont typeface="Poppins"/>
              <a:buNone/>
            </a:pPr>
            <a:r>
              <a:rPr lang="en-US" sz="1500" b="1" i="0" u="none" strike="noStrike" cap="none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III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418220" y="2485318"/>
            <a:ext cx="28098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400"/>
              <a:buFont typeface="Poppins"/>
              <a:buNone/>
            </a:pPr>
            <a:r>
              <a:rPr lang="en-US" sz="1400" b="1" i="0" u="none" strike="noStrike" cap="none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Architecture du Système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1418220" y="2791048"/>
            <a:ext cx="2809875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DM Sans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Hardware (EM310-UDL, LoRaWAN) &amp; Software (5 couches)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1416248" y="3210111"/>
            <a:ext cx="276225" cy="14288"/>
          </a:xfrm>
          <a:prstGeom prst="roundRect">
            <a:avLst>
              <a:gd name="adj" fmla="val 799972"/>
            </a:avLst>
          </a:prstGeom>
          <a:solidFill>
            <a:srgbClr val="0A23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4685854" y="2331727"/>
            <a:ext cx="3910012" cy="1047750"/>
          </a:xfrm>
          <a:prstGeom prst="roundRect">
            <a:avLst>
              <a:gd name="adj" fmla="val 9521"/>
            </a:avLst>
          </a:prstGeom>
          <a:solidFill>
            <a:srgbClr val="F4A823"/>
          </a:solidFill>
          <a:ln>
            <a:noFill/>
          </a:ln>
          <a:effectLst>
            <a:outerShdw blurRad="114300" dist="19050" dir="5400000" algn="bl" rotWithShape="0">
              <a:srgbClr val="F4A823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4914900" y="2486248"/>
            <a:ext cx="457200" cy="457200"/>
          </a:xfrm>
          <a:prstGeom prst="roundRect">
            <a:avLst>
              <a:gd name="adj" fmla="val 8333"/>
            </a:avLst>
          </a:prstGeom>
          <a:solidFill>
            <a:srgbClr val="0A234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8400"/>
              </a:lnSpc>
              <a:spcBef>
                <a:spcPts val="0"/>
              </a:spcBef>
              <a:spcAft>
                <a:spcPts val="0"/>
              </a:spcAft>
              <a:buClr>
                <a:srgbClr val="F4A823"/>
              </a:buClr>
              <a:buSzPts val="1500"/>
              <a:buFont typeface="Poppins"/>
              <a:buNone/>
            </a:pPr>
            <a:r>
              <a:rPr lang="en-US" sz="1500" b="1" i="0" u="none" strike="noStrike" cap="none">
                <a:solidFill>
                  <a:srgbClr val="F4A823"/>
                </a:solidFill>
                <a:latin typeface="Poppins"/>
                <a:ea typeface="Poppins"/>
                <a:cs typeface="Poppins"/>
                <a:sym typeface="Poppins"/>
              </a:rPr>
              <a:t>IV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5553819" y="2485318"/>
            <a:ext cx="13811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400"/>
              <a:buFont typeface="Poppins"/>
              <a:buNone/>
            </a:pPr>
            <a:r>
              <a:rPr lang="en-US" sz="1400" b="1" i="0" u="none" strike="noStrike" cap="none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5553819" y="2792425"/>
            <a:ext cx="1381125" cy="176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DM Sans"/>
              <a:buNone/>
            </a:pPr>
            <a:r>
              <a:rPr lang="en-US" sz="900" b="0" i="0" u="none" strike="noStrike" cap="none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Synthèse &amp; perspectives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553968" y="3031889"/>
            <a:ext cx="276225" cy="14288"/>
          </a:xfrm>
          <a:prstGeom prst="roundRect">
            <a:avLst>
              <a:gd name="adj" fmla="val 799972"/>
            </a:avLst>
          </a:prstGeom>
          <a:solidFill>
            <a:srgbClr val="0A23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" name="Google Shape;63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5113809"/>
            <a:ext cx="9144000" cy="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11">
            <a:extLst>
              <a:ext uri="{FF2B5EF4-FFF2-40B4-BE49-F238E27FC236}">
                <a16:creationId xmlns:a16="http://schemas.microsoft.com/office/drawing/2014/main" id="{E5D117D4-47C0-D621-74F2-EDF95384F888}"/>
              </a:ext>
            </a:extLst>
          </p:cNvPr>
          <p:cNvSpPr/>
          <p:nvPr/>
        </p:nvSpPr>
        <p:spPr>
          <a:xfrm>
            <a:off x="8617669" y="4886958"/>
            <a:ext cx="252412" cy="1428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b="1" dirty="0">
                <a:solidFill>
                  <a:srgbClr val="00C8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r>
              <a:rPr lang="en-US" sz="700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/14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00C896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6949440" y="2948940"/>
            <a:ext cx="2743200" cy="2743200"/>
          </a:xfrm>
          <a:prstGeom prst="ellipse">
            <a:avLst/>
          </a:prstGeom>
          <a:solidFill>
            <a:srgbClr val="F4A823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" name="Google Shape;72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893"/>
            <a:ext cx="9144000" cy="42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24275" y="1401180"/>
            <a:ext cx="1095375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5"/>
          <p:cNvSpPr/>
          <p:nvPr/>
        </p:nvSpPr>
        <p:spPr>
          <a:xfrm>
            <a:off x="3055144" y="2650703"/>
            <a:ext cx="3033712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Poppins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3055144" y="2867769"/>
            <a:ext cx="30337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298156" y="3428554"/>
            <a:ext cx="547687" cy="1905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3055144" y="3551932"/>
            <a:ext cx="303371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12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Contexte &amp; objectifs du projet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58056" y="4851611"/>
            <a:ext cx="1533525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Poppins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HESTIM · PACTE LIVRABLE 2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101530"/>
            <a:ext cx="9144000" cy="4286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"/>
          <p:cNvSpPr/>
          <p:nvPr/>
        </p:nvSpPr>
        <p:spPr>
          <a:xfrm>
            <a:off x="4024275" y="1401180"/>
            <a:ext cx="1095375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 11">
            <a:extLst>
              <a:ext uri="{FF2B5EF4-FFF2-40B4-BE49-F238E27FC236}">
                <a16:creationId xmlns:a16="http://schemas.microsoft.com/office/drawing/2014/main" id="{9AF90600-CC0A-2953-8848-D03A95E92274}"/>
              </a:ext>
            </a:extLst>
          </p:cNvPr>
          <p:cNvSpPr/>
          <p:nvPr/>
        </p:nvSpPr>
        <p:spPr>
          <a:xfrm>
            <a:off x="8617669" y="4886958"/>
            <a:ext cx="252412" cy="1428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b="1" dirty="0">
                <a:solidFill>
                  <a:srgbClr val="00C8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r>
              <a:rPr lang="en-US" sz="700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/14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0" name="Google Shape;70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2" y="0"/>
            <a:ext cx="6191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"/>
          <p:cNvSpPr/>
          <p:nvPr/>
        </p:nvSpPr>
        <p:spPr>
          <a:xfrm>
            <a:off x="458056" y="256282"/>
            <a:ext cx="1347788" cy="22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9714"/>
              </a:lnSpc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700"/>
              <a:buFont typeface="Poppins"/>
              <a:buNone/>
            </a:pPr>
            <a:r>
              <a:rPr lang="en-US" sz="700" b="1" i="0" u="none" strike="noStrike" cap="none">
                <a:solidFill>
                  <a:srgbClr val="00C896"/>
                </a:solidFill>
                <a:highlight>
                  <a:srgbClr val="00C896"/>
                </a:highlight>
                <a:latin typeface="Poppins"/>
                <a:ea typeface="Poppins"/>
                <a:cs typeface="Poppins"/>
                <a:sym typeface="Poppins"/>
              </a:rPr>
              <a:t>I. INTRODUCTION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57200" y="721035"/>
            <a:ext cx="8229600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oppins"/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Objectifs du projet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57200" y="1283122"/>
            <a:ext cx="650240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n-US" sz="10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Présenter</a:t>
            </a:r>
            <a:r>
              <a:rPr lang="en-US" sz="10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les </a:t>
            </a:r>
            <a:r>
              <a:rPr lang="en-US" sz="10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diagrammes</a:t>
            </a:r>
            <a:r>
              <a:rPr lang="en-US" sz="10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UML et les </a:t>
            </a:r>
            <a:r>
              <a:rPr lang="en-US" sz="10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schémas</a:t>
            </a:r>
            <a:r>
              <a:rPr lang="en-US" sz="10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0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d'architecture</a:t>
            </a:r>
            <a:r>
              <a:rPr lang="en-US" sz="10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pour </a:t>
            </a:r>
            <a:r>
              <a:rPr lang="en-US" sz="10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une</a:t>
            </a:r>
            <a:r>
              <a:rPr lang="en-US" sz="10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vision </a:t>
            </a:r>
            <a:r>
              <a:rPr lang="en-US" sz="10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globale</a:t>
            </a:r>
            <a:r>
              <a:rPr lang="en-US" sz="10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du </a:t>
            </a:r>
            <a:r>
              <a:rPr lang="en-US" sz="10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système</a:t>
            </a:r>
            <a:r>
              <a:rPr lang="en-US" sz="10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57200" y="2055267"/>
            <a:ext cx="2748280" cy="2150973"/>
          </a:xfrm>
          <a:prstGeom prst="roundRect">
            <a:avLst>
              <a:gd name="adj" fmla="val 2837"/>
            </a:avLst>
          </a:prstGeom>
          <a:solidFill>
            <a:srgbClr val="FFFFFF">
              <a:alpha val="5882"/>
            </a:srgbClr>
          </a:solidFill>
          <a:ln w="9525" cap="flat" cmpd="sng">
            <a:solidFill>
              <a:srgbClr val="00C896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644797" y="2213247"/>
            <a:ext cx="484991" cy="512391"/>
          </a:xfrm>
          <a:prstGeom prst="roundRect">
            <a:avLst>
              <a:gd name="adj" fmla="val 8333"/>
            </a:avLst>
          </a:prstGeom>
          <a:solidFill>
            <a:srgbClr val="00C896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6" name="Google Shape;76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9097" y="2327547"/>
            <a:ext cx="242495" cy="25619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/>
          <p:nvPr/>
        </p:nvSpPr>
        <p:spPr>
          <a:xfrm>
            <a:off x="645319" y="2773474"/>
            <a:ext cx="2349174" cy="245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090"/>
              </a:lnSpc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100"/>
              <a:buFont typeface="Poppins"/>
              <a:buNone/>
            </a:pPr>
            <a:r>
              <a:rPr lang="en-US" sz="1100" b="1" i="0" u="none" strike="noStrike" cap="none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Technologie LoRaWAN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45319" y="3044602"/>
            <a:ext cx="2349174" cy="864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DM Sans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Protocole IoT longue portée, faible consommation, idéal pour la communication entre capteurs et passerelle.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3276600" y="2055267"/>
            <a:ext cx="2748280" cy="2150973"/>
          </a:xfrm>
          <a:prstGeom prst="roundRect">
            <a:avLst>
              <a:gd name="adj" fmla="val 2837"/>
            </a:avLst>
          </a:prstGeom>
          <a:solidFill>
            <a:srgbClr val="FFFFFF">
              <a:alpha val="5882"/>
            </a:srgbClr>
          </a:solidFill>
          <a:ln w="9525" cap="flat" cmpd="sng">
            <a:solidFill>
              <a:srgbClr val="F4A823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3464197" y="2213247"/>
            <a:ext cx="484991" cy="512391"/>
          </a:xfrm>
          <a:prstGeom prst="roundRect">
            <a:avLst>
              <a:gd name="adj" fmla="val 8333"/>
            </a:avLst>
          </a:prstGeom>
          <a:solidFill>
            <a:srgbClr val="F4A823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" name="Google Shape;81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78497" y="2327547"/>
            <a:ext cx="242495" cy="25619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/>
          <p:nvPr/>
        </p:nvSpPr>
        <p:spPr>
          <a:xfrm>
            <a:off x="3464719" y="2773474"/>
            <a:ext cx="2349174" cy="245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090"/>
              </a:lnSpc>
              <a:spcBef>
                <a:spcPts val="0"/>
              </a:spcBef>
              <a:spcAft>
                <a:spcPts val="0"/>
              </a:spcAft>
              <a:buClr>
                <a:srgbClr val="F4A823"/>
              </a:buClr>
              <a:buSzPts val="1100"/>
              <a:buFont typeface="Poppins"/>
              <a:buNone/>
            </a:pPr>
            <a:r>
              <a:rPr lang="en-US" sz="1100" b="1" i="0" u="none" strike="noStrike" cap="none">
                <a:solidFill>
                  <a:srgbClr val="F4A823"/>
                </a:solidFill>
                <a:latin typeface="Poppins"/>
                <a:ea typeface="Poppins"/>
                <a:cs typeface="Poppins"/>
                <a:sym typeface="Poppins"/>
              </a:rPr>
              <a:t>Modélisation UML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3464719" y="3044602"/>
            <a:ext cx="2349174" cy="864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DM Sans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Diagrammes standardisés pour décrire les interactions, la structure des composants et le déroulement des processus.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096000" y="2055267"/>
            <a:ext cx="2748280" cy="2150973"/>
          </a:xfrm>
          <a:prstGeom prst="roundRect">
            <a:avLst>
              <a:gd name="adj" fmla="val 2837"/>
            </a:avLst>
          </a:prstGeom>
          <a:solidFill>
            <a:srgbClr val="FFFFFF">
              <a:alpha val="5882"/>
            </a:srgbClr>
          </a:solidFill>
          <a:ln w="9525" cap="flat" cmpd="sng">
            <a:solidFill>
              <a:srgbClr val="FFFFFF">
                <a:alpha val="1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6283597" y="2213247"/>
            <a:ext cx="484991" cy="512391"/>
          </a:xfrm>
          <a:prstGeom prst="roundRect">
            <a:avLst>
              <a:gd name="adj" fmla="val 8333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6" name="Google Shape;86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7897" y="2327547"/>
            <a:ext cx="242495" cy="25619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"/>
          <p:cNvSpPr/>
          <p:nvPr/>
        </p:nvSpPr>
        <p:spPr>
          <a:xfrm>
            <a:off x="6284119" y="2773474"/>
            <a:ext cx="2349174" cy="245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0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Architectures H/W &amp; S/W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284119" y="3043300"/>
            <a:ext cx="2349174" cy="65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DM Sans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Définition des équipements physiques (capteurs, passerelles, serveurs) et des couches logicielles du système.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5113809"/>
            <a:ext cx="9144000" cy="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11">
            <a:extLst>
              <a:ext uri="{FF2B5EF4-FFF2-40B4-BE49-F238E27FC236}">
                <a16:creationId xmlns:a16="http://schemas.microsoft.com/office/drawing/2014/main" id="{46B8DCC4-EB54-C715-F3BF-E9631606D057}"/>
              </a:ext>
            </a:extLst>
          </p:cNvPr>
          <p:cNvSpPr/>
          <p:nvPr/>
        </p:nvSpPr>
        <p:spPr>
          <a:xfrm>
            <a:off x="8617669" y="4886958"/>
            <a:ext cx="252412" cy="1428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b="1" dirty="0">
                <a:solidFill>
                  <a:srgbClr val="00C8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r>
              <a:rPr lang="en-US" sz="700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/14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F4A823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6949440" y="2948941"/>
            <a:ext cx="2743200" cy="2743200"/>
          </a:xfrm>
          <a:prstGeom prst="ellipse">
            <a:avLst/>
          </a:prstGeom>
          <a:solidFill>
            <a:srgbClr val="00C896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5" name="Google Shape;11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893"/>
            <a:ext cx="9144000" cy="42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24275" y="1401180"/>
            <a:ext cx="1095375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7"/>
          <p:cNvSpPr/>
          <p:nvPr/>
        </p:nvSpPr>
        <p:spPr>
          <a:xfrm>
            <a:off x="2455032" y="2650703"/>
            <a:ext cx="4233863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Poppins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2455032" y="2867769"/>
            <a:ext cx="423386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Diagrammes UML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4298082" y="3428554"/>
            <a:ext cx="547687" cy="19050"/>
          </a:xfrm>
          <a:prstGeom prst="rect">
            <a:avLst/>
          </a:prstGeom>
          <a:solidFill>
            <a:srgbClr val="F4A8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2455032" y="3551932"/>
            <a:ext cx="4233863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12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Cas d'utilisation · Classes · Séquence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58056" y="4851611"/>
            <a:ext cx="1533525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Poppins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HESTIM · PACTE LIVRABLE 2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101530"/>
            <a:ext cx="9144000" cy="42863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7"/>
          <p:cNvSpPr/>
          <p:nvPr/>
        </p:nvSpPr>
        <p:spPr>
          <a:xfrm>
            <a:off x="4024275" y="1401180"/>
            <a:ext cx="1095375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II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 11">
            <a:extLst>
              <a:ext uri="{FF2B5EF4-FFF2-40B4-BE49-F238E27FC236}">
                <a16:creationId xmlns:a16="http://schemas.microsoft.com/office/drawing/2014/main" id="{B240C101-EE34-38C0-DB60-7FD48FCA6AC7}"/>
              </a:ext>
            </a:extLst>
          </p:cNvPr>
          <p:cNvSpPr/>
          <p:nvPr/>
        </p:nvSpPr>
        <p:spPr>
          <a:xfrm>
            <a:off x="8617669" y="4886958"/>
            <a:ext cx="252412" cy="1428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b="1" dirty="0">
                <a:solidFill>
                  <a:srgbClr val="00C8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r>
              <a:rPr lang="en-US" sz="700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/14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6" name="Google Shape;96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12"/>
            <a:ext cx="9144000" cy="6191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6"/>
          <p:cNvSpPr/>
          <p:nvPr/>
        </p:nvSpPr>
        <p:spPr>
          <a:xfrm>
            <a:off x="456493" y="210443"/>
            <a:ext cx="1290638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9714"/>
              </a:lnSpc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700"/>
              <a:buFont typeface="Poppins"/>
              <a:buNone/>
            </a:pPr>
            <a:r>
              <a:rPr lang="en-US" sz="700" b="1" i="0" u="none" strike="noStrike" cap="none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II. DIAGRAMMES UML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58093" y="357522"/>
            <a:ext cx="477430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100"/>
              <a:buFont typeface="Poppins"/>
              <a:buNone/>
            </a:pPr>
            <a:r>
              <a:rPr lang="en-US" sz="2100" b="1" i="0" u="none" strike="noStrike" cap="none" dirty="0" err="1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Diagramme</a:t>
            </a:r>
            <a:r>
              <a:rPr lang="en-US" sz="2100" b="1" i="0" u="none" strike="noStrike" cap="none" dirty="0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 de Cas </a:t>
            </a:r>
            <a:r>
              <a:rPr lang="en-US" sz="2100" b="1" i="0" u="none" strike="noStrike" cap="none" dirty="0" err="1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d'Utilisation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2012640" y="926306"/>
            <a:ext cx="6581775" cy="3805237"/>
          </a:xfrm>
          <a:prstGeom prst="roundRect">
            <a:avLst>
              <a:gd name="adj" fmla="val 722"/>
            </a:avLst>
          </a:prstGeom>
          <a:solidFill>
            <a:srgbClr val="FFFFFF"/>
          </a:solidFill>
          <a:ln w="9525" cap="flat" cmpd="sng">
            <a:solidFill>
              <a:srgbClr val="0A2342"/>
            </a:solidFill>
            <a:prstDash val="dash"/>
            <a:round/>
            <a:headEnd type="none" w="sm" len="sm"/>
            <a:tailEnd type="none" w="sm" len="sm"/>
          </a:ln>
          <a:effectLst>
            <a:outerShdw blurRad="95250" dist="19050" dir="5400000" algn="bl" rotWithShape="0">
              <a:srgbClr val="0A2342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482252" y="4760118"/>
            <a:ext cx="612416" cy="275419"/>
          </a:xfrm>
          <a:prstGeom prst="roundRect">
            <a:avLst>
              <a:gd name="adj" fmla="val 54545"/>
            </a:avLst>
          </a:prstGeom>
          <a:noFill/>
          <a:ln w="9525" cap="flat" cmpd="sng">
            <a:solidFill>
              <a:srgbClr val="00C8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9714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700"/>
              <a:buFont typeface="DM Sans"/>
              <a:buNone/>
            </a:pPr>
            <a:r>
              <a:rPr lang="en-US" sz="700" b="0" i="0" u="none" strike="noStrike" cap="none" dirty="0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Use Case</a:t>
            </a:r>
            <a:endParaRPr sz="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1367879" y="4812060"/>
            <a:ext cx="228600" cy="228600"/>
          </a:xfrm>
          <a:prstGeom prst="ellipse">
            <a:avLst/>
          </a:prstGeom>
          <a:solidFill>
            <a:srgbClr val="0A23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5" name="Google Shape;115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22722" y="4866903"/>
            <a:ext cx="118839" cy="11883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6"/>
          <p:cNvSpPr/>
          <p:nvPr/>
        </p:nvSpPr>
        <p:spPr>
          <a:xfrm>
            <a:off x="1668549" y="4812060"/>
            <a:ext cx="442087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9714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700"/>
              <a:buFont typeface="DM Sans"/>
              <a:buNone/>
            </a:pPr>
            <a:r>
              <a:rPr lang="en-US" sz="700" b="0" i="0" u="none" strike="noStrike" cap="none" dirty="0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Actor</a:t>
            </a:r>
            <a:endParaRPr sz="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5113809"/>
            <a:ext cx="9144000" cy="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11">
            <a:extLst>
              <a:ext uri="{FF2B5EF4-FFF2-40B4-BE49-F238E27FC236}">
                <a16:creationId xmlns:a16="http://schemas.microsoft.com/office/drawing/2014/main" id="{94EC3FC0-8026-0626-BC84-2DD1CBB83A22}"/>
              </a:ext>
            </a:extLst>
          </p:cNvPr>
          <p:cNvSpPr/>
          <p:nvPr/>
        </p:nvSpPr>
        <p:spPr>
          <a:xfrm>
            <a:off x="8617669" y="4886958"/>
            <a:ext cx="252412" cy="1428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b="1" dirty="0">
                <a:solidFill>
                  <a:srgbClr val="00C8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r>
              <a:rPr lang="en-US" sz="700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/14</a:t>
            </a:r>
            <a:endParaRPr lang="en-US" sz="7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A07D23D-1E4E-0736-9936-4B2A43C5E0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8612" y="948847"/>
            <a:ext cx="6555804" cy="37519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12"/>
            <a:ext cx="9144000" cy="6191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7"/>
          <p:cNvSpPr/>
          <p:nvPr/>
        </p:nvSpPr>
        <p:spPr>
          <a:xfrm>
            <a:off x="456493" y="210443"/>
            <a:ext cx="1290638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9714"/>
              </a:lnSpc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700"/>
              <a:buFont typeface="Poppins"/>
              <a:buNone/>
            </a:pPr>
            <a:r>
              <a:rPr lang="en-US" sz="700" b="1" i="0" u="none" strike="noStrike" cap="none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II. DIAGRAMMES UML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457609" y="357522"/>
            <a:ext cx="4356981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100"/>
              <a:buFont typeface="Poppins"/>
              <a:buNone/>
            </a:pPr>
            <a:r>
              <a:rPr lang="en-US" sz="2100" b="1" i="0" u="none" strike="noStrike" cap="none" dirty="0" err="1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Diagramme</a:t>
            </a:r>
            <a:r>
              <a:rPr lang="en-US" sz="2100" b="1" i="0" u="none" strike="noStrike" cap="none" dirty="0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 de Classes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5113809"/>
            <a:ext cx="9144000" cy="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11">
            <a:extLst>
              <a:ext uri="{FF2B5EF4-FFF2-40B4-BE49-F238E27FC236}">
                <a16:creationId xmlns:a16="http://schemas.microsoft.com/office/drawing/2014/main" id="{D528A7D8-54B7-5510-D23C-927D26EDCE6E}"/>
              </a:ext>
            </a:extLst>
          </p:cNvPr>
          <p:cNvSpPr/>
          <p:nvPr/>
        </p:nvSpPr>
        <p:spPr>
          <a:xfrm>
            <a:off x="8617669" y="4886958"/>
            <a:ext cx="252412" cy="1428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b="1" dirty="0">
                <a:solidFill>
                  <a:srgbClr val="00C8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r>
              <a:rPr lang="en-US" sz="700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/14</a:t>
            </a:r>
            <a:endParaRPr lang="en-US" sz="7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72CD1B9-BF88-5FBC-9306-99AD50BF29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6104" y="1062818"/>
            <a:ext cx="3748414" cy="37231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0" name="Google Shape;190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12"/>
            <a:ext cx="9144000" cy="6191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8"/>
          <p:cNvSpPr/>
          <p:nvPr/>
        </p:nvSpPr>
        <p:spPr>
          <a:xfrm>
            <a:off x="6949380" y="2811735"/>
            <a:ext cx="2743200" cy="2743200"/>
          </a:xfrm>
          <a:prstGeom prst="ellipse">
            <a:avLst/>
          </a:prstGeom>
          <a:noFill/>
          <a:ln w="9525" cap="flat" cmpd="sng">
            <a:solidFill>
              <a:srgbClr val="00C896">
                <a:alpha val="1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456493" y="210443"/>
            <a:ext cx="1290638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9714"/>
              </a:lnSpc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700"/>
              <a:buFont typeface="Poppins"/>
              <a:buNone/>
            </a:pPr>
            <a:r>
              <a:rPr lang="en-US" sz="700" b="1" i="0" u="none" strike="noStrike" cap="none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II. DIAGRAMMES UML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57423" y="357522"/>
            <a:ext cx="441556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oppins"/>
              <a:buNone/>
            </a:pPr>
            <a:r>
              <a:rPr lang="en-US" sz="21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Diagramme</a:t>
            </a:r>
            <a:r>
              <a:rPr lang="en-US" sz="21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1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Séquence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57423" y="793403"/>
            <a:ext cx="3457575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DM Sans"/>
              <a:buNone/>
            </a:pPr>
            <a:r>
              <a:rPr lang="en-US" sz="9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Scénario</a:t>
            </a:r>
            <a:r>
              <a:rPr lang="en-US" sz="9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: </a:t>
            </a:r>
            <a:r>
              <a:rPr lang="en-US" sz="9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Détection</a:t>
            </a:r>
            <a:r>
              <a:rPr lang="en-US" sz="9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9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d'une</a:t>
            </a:r>
            <a:r>
              <a:rPr lang="en-US" sz="9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9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poubelle</a:t>
            </a:r>
            <a:r>
              <a:rPr lang="en-US" sz="9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9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pleine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68714" y="1185192"/>
            <a:ext cx="52389" cy="3139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14604" y="1185192"/>
            <a:ext cx="52389" cy="3139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0494" y="1185192"/>
            <a:ext cx="52389" cy="3139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06459" y="1185192"/>
            <a:ext cx="52389" cy="3139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52349" y="1185192"/>
            <a:ext cx="52389" cy="3139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5113809"/>
            <a:ext cx="9144000" cy="2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781B81C3-D46F-0AEB-A00F-534B11F446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470" y="1350327"/>
            <a:ext cx="7690943" cy="3261361"/>
          </a:xfrm>
          <a:prstGeom prst="rect">
            <a:avLst/>
          </a:prstGeom>
        </p:spPr>
      </p:pic>
      <p:sp>
        <p:nvSpPr>
          <p:cNvPr id="3" name="Text 11">
            <a:extLst>
              <a:ext uri="{FF2B5EF4-FFF2-40B4-BE49-F238E27FC236}">
                <a16:creationId xmlns:a16="http://schemas.microsoft.com/office/drawing/2014/main" id="{5164E107-E2D1-CFC1-5D55-FB56E9C94F4A}"/>
              </a:ext>
            </a:extLst>
          </p:cNvPr>
          <p:cNvSpPr/>
          <p:nvPr/>
        </p:nvSpPr>
        <p:spPr>
          <a:xfrm>
            <a:off x="8617669" y="4886958"/>
            <a:ext cx="252412" cy="1428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b="1" dirty="0">
                <a:solidFill>
                  <a:srgbClr val="00C8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</a:t>
            </a:r>
            <a:r>
              <a:rPr lang="en-US" sz="700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/14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6583680" y="-1097282"/>
            <a:ext cx="3657600" cy="3657600"/>
          </a:xfrm>
          <a:prstGeom prst="ellipse">
            <a:avLst/>
          </a:prstGeom>
          <a:solidFill>
            <a:srgbClr val="00C896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-548640" y="2948941"/>
            <a:ext cx="2743200" cy="2743200"/>
          </a:xfrm>
          <a:prstGeom prst="ellipse">
            <a:avLst/>
          </a:prstGeom>
          <a:solidFill>
            <a:srgbClr val="F4A823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4" name="Google Shape;284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893"/>
            <a:ext cx="9144000" cy="42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24275" y="1401180"/>
            <a:ext cx="1095375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1"/>
          <p:cNvSpPr/>
          <p:nvPr/>
        </p:nvSpPr>
        <p:spPr>
          <a:xfrm>
            <a:off x="2847975" y="2650703"/>
            <a:ext cx="3448050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Poppins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2847975" y="2867769"/>
            <a:ext cx="34480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Architecture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4298156" y="3428554"/>
            <a:ext cx="547687" cy="1905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2847975" y="3551932"/>
            <a:ext cx="34480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12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Hardware (EM310-UDL, LoRaWAN) &amp; Software (5 couches)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458056" y="4851611"/>
            <a:ext cx="1533525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Poppins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HESTIM · PACTE LIVRABLE 2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101530"/>
            <a:ext cx="9144000" cy="42863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1"/>
          <p:cNvSpPr/>
          <p:nvPr/>
        </p:nvSpPr>
        <p:spPr>
          <a:xfrm>
            <a:off x="4024275" y="1401180"/>
            <a:ext cx="1095375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III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 11">
            <a:extLst>
              <a:ext uri="{FF2B5EF4-FFF2-40B4-BE49-F238E27FC236}">
                <a16:creationId xmlns:a16="http://schemas.microsoft.com/office/drawing/2014/main" id="{07CCFD48-4355-0DF8-C454-E387DF5C81D4}"/>
              </a:ext>
            </a:extLst>
          </p:cNvPr>
          <p:cNvSpPr/>
          <p:nvPr/>
        </p:nvSpPr>
        <p:spPr>
          <a:xfrm>
            <a:off x="8617669" y="4886958"/>
            <a:ext cx="252412" cy="1428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b="1" dirty="0">
                <a:solidFill>
                  <a:srgbClr val="00C8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</a:t>
            </a:r>
            <a:r>
              <a:rPr lang="en-US" sz="700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/14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2"/>
          <p:cNvSpPr/>
          <p:nvPr/>
        </p:nvSpPr>
        <p:spPr>
          <a:xfrm>
            <a:off x="0" y="-6264"/>
            <a:ext cx="9144000" cy="51435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9" name="Google Shape;299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12"/>
            <a:ext cx="9144000" cy="61912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2"/>
          <p:cNvSpPr/>
          <p:nvPr/>
        </p:nvSpPr>
        <p:spPr>
          <a:xfrm>
            <a:off x="457498" y="159023"/>
            <a:ext cx="1138237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9714"/>
              </a:lnSpc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700"/>
              <a:buFont typeface="Poppins"/>
              <a:buNone/>
            </a:pPr>
            <a:r>
              <a:rPr lang="en-US" sz="700" b="1" i="0" u="none" strike="noStrike" cap="none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III. ARCHITECTURE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456121" y="304614"/>
            <a:ext cx="29813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000"/>
              <a:buFont typeface="Poppins"/>
              <a:buNone/>
            </a:pPr>
            <a:r>
              <a:rPr lang="en-US" sz="2000" b="1" i="0" u="none" strike="noStrike" cap="none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Architecture Hardware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7014381" y="155042"/>
            <a:ext cx="1671638" cy="300038"/>
          </a:xfrm>
          <a:prstGeom prst="roundRect">
            <a:avLst>
              <a:gd name="adj" fmla="val 19350"/>
            </a:avLst>
          </a:prstGeom>
          <a:solidFill>
            <a:srgbClr val="0A234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900"/>
              <a:buFont typeface="Poppins"/>
              <a:buNone/>
            </a:pPr>
            <a:r>
              <a:rPr lang="en-US" sz="900" b="1" i="0" u="none" strike="noStrike" cap="none" dirty="0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IoT · </a:t>
            </a:r>
            <a:r>
              <a:rPr lang="en-US" sz="900" b="1" i="0" u="none" strike="noStrike" cap="none" dirty="0" err="1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LoRaWAN</a:t>
            </a:r>
            <a:r>
              <a:rPr lang="en-US" sz="900" b="1" i="0" u="none" strike="noStrike" cap="none" dirty="0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 · Cloud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457200" y="849623"/>
            <a:ext cx="8229600" cy="176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DM Sans"/>
              <a:buNone/>
            </a:pPr>
            <a:r>
              <a:rPr lang="en-US" sz="900" b="1" i="0" u="none" strike="noStrike" cap="none" dirty="0" err="1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Capteur</a:t>
            </a:r>
            <a:r>
              <a:rPr lang="en-US" sz="900" b="1" i="0" u="none" strike="noStrike" cap="none" dirty="0" err="1">
                <a:solidFill>
                  <a:srgbClr val="00C896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r>
              <a:rPr lang="en-US" sz="900" b="1" i="0" u="none" strike="noStrike" cap="none" dirty="0" err="1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LoRaWAN</a:t>
            </a:r>
            <a:r>
              <a:rPr lang="en-US" sz="900" b="1" i="0" u="none" strike="noStrike" cap="none" dirty="0" err="1">
                <a:solidFill>
                  <a:srgbClr val="00C896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r>
              <a:rPr lang="en-US" sz="900" b="1" i="0" u="none" strike="noStrike" cap="none" dirty="0" err="1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Passerelle</a:t>
            </a:r>
            <a:r>
              <a:rPr lang="en-US" sz="900" b="1" i="0" u="none" strike="noStrike" cap="none" dirty="0" err="1">
                <a:solidFill>
                  <a:srgbClr val="00C896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r>
              <a:rPr lang="en-US" sz="900" b="1" i="0" u="none" strike="noStrike" cap="none" dirty="0" err="1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Serveur</a:t>
            </a:r>
            <a:r>
              <a:rPr lang="en-US" sz="900" b="1" i="0" u="none" strike="noStrike" cap="none" dirty="0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 / </a:t>
            </a:r>
            <a:r>
              <a:rPr lang="en-US" sz="900" b="1" i="0" u="none" strike="noStrike" cap="none" dirty="0" err="1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Cloud</a:t>
            </a:r>
            <a:r>
              <a:rPr lang="en-US" sz="900" b="1" i="0" u="none" strike="noStrike" cap="none" dirty="0" err="1">
                <a:solidFill>
                  <a:srgbClr val="00C896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r>
              <a:rPr lang="en-US" sz="900" b="1" i="0" u="none" strike="noStrike" cap="none" dirty="0" err="1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Utilisateur</a:t>
            </a:r>
            <a:r>
              <a:rPr lang="en-US" sz="900" b="1" i="0" u="none" strike="noStrike" cap="none" dirty="0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 (Web/App)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6" name="Google Shape;326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5113809"/>
            <a:ext cx="9144000" cy="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11">
            <a:extLst>
              <a:ext uri="{FF2B5EF4-FFF2-40B4-BE49-F238E27FC236}">
                <a16:creationId xmlns:a16="http://schemas.microsoft.com/office/drawing/2014/main" id="{BB3E93E9-80D2-B5F6-8988-508399496C5A}"/>
              </a:ext>
            </a:extLst>
          </p:cNvPr>
          <p:cNvSpPr/>
          <p:nvPr/>
        </p:nvSpPr>
        <p:spPr>
          <a:xfrm>
            <a:off x="8617669" y="4886958"/>
            <a:ext cx="252412" cy="1428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b="1" dirty="0">
                <a:solidFill>
                  <a:srgbClr val="00C8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r>
              <a:rPr lang="en-US" sz="700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/14</a:t>
            </a:r>
            <a:endParaRPr lang="en-US" sz="700" dirty="0"/>
          </a:p>
        </p:txBody>
      </p:sp>
      <p:pic>
        <p:nvPicPr>
          <p:cNvPr id="3" name="Image 2" descr="C:\Users\pc\Downloads\ChatGPT Image 8 avr. 2026, 19_55_15.png">
            <a:extLst>
              <a:ext uri="{FF2B5EF4-FFF2-40B4-BE49-F238E27FC236}">
                <a16:creationId xmlns:a16="http://schemas.microsoft.com/office/drawing/2014/main" id="{4FE79A58-EEA9-B1FE-481E-BE5290601D08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06" b="3195"/>
          <a:stretch>
            <a:fillRect/>
          </a:stretch>
        </p:blipFill>
        <p:spPr bwMode="auto">
          <a:xfrm>
            <a:off x="1113182" y="1220054"/>
            <a:ext cx="6917635" cy="3429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1" name="Google Shape;271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12"/>
            <a:ext cx="9144000" cy="6191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0"/>
          <p:cNvSpPr/>
          <p:nvPr/>
        </p:nvSpPr>
        <p:spPr>
          <a:xfrm>
            <a:off x="457498" y="236190"/>
            <a:ext cx="1138237" cy="13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9714"/>
              </a:lnSpc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700"/>
              <a:buFont typeface="Poppins"/>
              <a:buNone/>
            </a:pPr>
            <a:r>
              <a:rPr lang="en-US" sz="700" b="1" i="0" u="none" strike="noStrike" cap="none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III. ARCHITECTURE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457460" y="383270"/>
            <a:ext cx="665962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100"/>
              <a:buFont typeface="Poppins"/>
              <a:buNone/>
            </a:pPr>
            <a:r>
              <a:rPr lang="en-US" sz="2100" b="1" i="0" u="none" strike="noStrike" cap="none" dirty="0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Architecture Software – 5 Couches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106680" y="1046972"/>
            <a:ext cx="4910660" cy="520939"/>
          </a:xfrm>
          <a:prstGeom prst="roundRect">
            <a:avLst>
              <a:gd name="adj" fmla="val 27864"/>
            </a:avLst>
          </a:prstGeom>
          <a:solidFill>
            <a:srgbClr val="0A2342"/>
          </a:solidFill>
          <a:ln>
            <a:noFill/>
          </a:ln>
          <a:effectLst>
            <a:outerShdw blurRad="57150" dist="9525" dir="5400000" algn="bl" rotWithShape="0">
              <a:srgbClr val="0A2342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75" name="Google Shape;275;p10"/>
          <p:cNvSpPr/>
          <p:nvPr/>
        </p:nvSpPr>
        <p:spPr>
          <a:xfrm>
            <a:off x="197567" y="1144344"/>
            <a:ext cx="197567" cy="332409"/>
          </a:xfrm>
          <a:prstGeom prst="roundRect">
            <a:avLst>
              <a:gd name="adj" fmla="val 12831"/>
            </a:avLst>
          </a:prstGeom>
          <a:solidFill>
            <a:srgbClr val="00C896">
              <a:alpha val="13333"/>
            </a:srgbClr>
          </a:solidFill>
          <a:ln w="9525" cap="flat" cmpd="sng">
            <a:solidFill>
              <a:srgbClr val="00C8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7090"/>
              </a:lnSpc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100"/>
              <a:buFont typeface="Poppins"/>
              <a:buNone/>
            </a:pPr>
            <a:r>
              <a:rPr lang="en-US" sz="1050" b="1" i="0" u="none" strike="noStrike" cap="none" dirty="0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651632" y="1114315"/>
            <a:ext cx="4408386" cy="198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12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oppins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Couche Présentation (Frontend)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651632" y="1314787"/>
            <a:ext cx="4408386" cy="17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Interface web ou application mobile · Visualisation des données &amp; gestion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368221" y="1609170"/>
            <a:ext cx="4364155" cy="520939"/>
          </a:xfrm>
          <a:prstGeom prst="roundRect">
            <a:avLst>
              <a:gd name="adj" fmla="val 27864"/>
            </a:avLst>
          </a:prstGeom>
          <a:solidFill>
            <a:srgbClr val="1A3A5C"/>
          </a:solidFill>
          <a:ln>
            <a:noFill/>
          </a:ln>
          <a:effectLst>
            <a:outerShdw blurRad="57150" dist="9525" dir="5400000" algn="bl" rotWithShape="0">
              <a:srgbClr val="0A2342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79" name="Google Shape;279;p10"/>
          <p:cNvSpPr/>
          <p:nvPr/>
        </p:nvSpPr>
        <p:spPr>
          <a:xfrm>
            <a:off x="655257" y="1696088"/>
            <a:ext cx="197567" cy="332409"/>
          </a:xfrm>
          <a:prstGeom prst="roundRect">
            <a:avLst>
              <a:gd name="adj" fmla="val 12831"/>
            </a:avLst>
          </a:prstGeom>
          <a:solidFill>
            <a:srgbClr val="00C896">
              <a:alpha val="13333"/>
            </a:srgbClr>
          </a:solidFill>
          <a:ln w="9525" cap="flat" cmpd="sng">
            <a:solidFill>
              <a:srgbClr val="00C8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7090"/>
              </a:lnSpc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100"/>
              <a:buFont typeface="Poppins"/>
              <a:buNone/>
            </a:pPr>
            <a:r>
              <a:rPr lang="en-US" sz="1050" b="1" i="0" u="none" strike="noStrike" cap="none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1067321" y="1676514"/>
            <a:ext cx="3768506" cy="198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12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oppins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Couche API / Backend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1067321" y="1876985"/>
            <a:ext cx="3768506" cy="17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Gestion des requêtes utilisateurs · Communication avec la base de données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723560" y="2172146"/>
            <a:ext cx="3724276" cy="520939"/>
          </a:xfrm>
          <a:prstGeom prst="roundRect">
            <a:avLst>
              <a:gd name="adj" fmla="val 27864"/>
            </a:avLst>
          </a:prstGeom>
          <a:solidFill>
            <a:srgbClr val="00C896"/>
          </a:solidFill>
          <a:ln>
            <a:noFill/>
          </a:ln>
          <a:effectLst>
            <a:outerShdw blurRad="57150" dist="9525" dir="5400000" algn="bl" rotWithShape="0">
              <a:srgbClr val="0A2342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83" name="Google Shape;283;p10"/>
          <p:cNvSpPr/>
          <p:nvPr/>
        </p:nvSpPr>
        <p:spPr>
          <a:xfrm>
            <a:off x="1060813" y="2247995"/>
            <a:ext cx="197567" cy="332409"/>
          </a:xfrm>
          <a:prstGeom prst="roundRect">
            <a:avLst>
              <a:gd name="adj" fmla="val 12831"/>
            </a:avLst>
          </a:prstGeom>
          <a:solidFill>
            <a:srgbClr val="0A2342">
              <a:alpha val="13333"/>
            </a:srgbClr>
          </a:solidFill>
          <a:ln w="9525" cap="flat" cmpd="sng">
            <a:solidFill>
              <a:srgbClr val="0A23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709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Poppins"/>
              <a:buNone/>
            </a:pPr>
            <a:r>
              <a:rPr lang="en-US" sz="1050" b="1" i="0" u="none" strike="noStrike" cap="none" dirty="0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1481020" y="2238712"/>
            <a:ext cx="3131576" cy="198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12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Poppins"/>
              <a:buNone/>
            </a:pPr>
            <a:r>
              <a:rPr lang="en-US" sz="900" b="1" i="0" u="none" strike="noStrike" cap="none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Couche Logique Métier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1481020" y="2439183"/>
            <a:ext cx="3131576" cy="17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00"/>
              <a:buFont typeface="DM Sans"/>
              <a:buNone/>
            </a:pPr>
            <a:r>
              <a:rPr lang="en-US" sz="700" b="0" i="0" u="none" strike="noStrike" cap="none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Analyse des données · Génération d'alertes · Optimisation des tournées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1070545" y="2733254"/>
            <a:ext cx="3087344" cy="520939"/>
          </a:xfrm>
          <a:prstGeom prst="roundRect">
            <a:avLst>
              <a:gd name="adj" fmla="val 27864"/>
            </a:avLst>
          </a:prstGeom>
          <a:solidFill>
            <a:srgbClr val="F4A823"/>
          </a:solidFill>
          <a:ln>
            <a:noFill/>
          </a:ln>
          <a:effectLst>
            <a:outerShdw blurRad="57150" dist="9525" dir="5400000" algn="bl" rotWithShape="0">
              <a:srgbClr val="0A2342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87" name="Google Shape;287;p10"/>
          <p:cNvSpPr/>
          <p:nvPr/>
        </p:nvSpPr>
        <p:spPr>
          <a:xfrm>
            <a:off x="1441387" y="2824235"/>
            <a:ext cx="197567" cy="332409"/>
          </a:xfrm>
          <a:prstGeom prst="roundRect">
            <a:avLst>
              <a:gd name="adj" fmla="val 12831"/>
            </a:avLst>
          </a:prstGeom>
          <a:solidFill>
            <a:srgbClr val="0A2342">
              <a:alpha val="13333"/>
            </a:srgbClr>
          </a:solidFill>
          <a:ln w="9525" cap="flat" cmpd="sng">
            <a:solidFill>
              <a:srgbClr val="0A23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709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Poppins"/>
              <a:buNone/>
            </a:pPr>
            <a:r>
              <a:rPr lang="en-US" sz="1050" b="1" i="0" u="none" strike="noStrike" cap="none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1896708" y="2800910"/>
            <a:ext cx="2491697" cy="198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12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Poppins"/>
              <a:buNone/>
            </a:pPr>
            <a:r>
              <a:rPr lang="en-US" sz="900" b="1" i="0" u="none" strike="noStrike" cap="none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Couche Données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1896708" y="3001382"/>
            <a:ext cx="2491697" cy="17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800"/>
              <a:buFont typeface="DM Sans"/>
              <a:buNone/>
            </a:pPr>
            <a:r>
              <a:rPr lang="en-US" sz="700" b="0" i="0" u="none" strike="noStrike" cap="none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Base de données (stockage des informations)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1312533" y="3314568"/>
            <a:ext cx="2603367" cy="743680"/>
          </a:xfrm>
          <a:prstGeom prst="roundRect">
            <a:avLst>
              <a:gd name="adj" fmla="val 15673"/>
            </a:avLst>
          </a:prstGeom>
          <a:solidFill>
            <a:srgbClr val="0A2342"/>
          </a:solidFill>
          <a:ln>
            <a:noFill/>
          </a:ln>
          <a:effectLst>
            <a:outerShdw blurRad="57150" dist="9525" dir="5400000" algn="bl" rotWithShape="0">
              <a:srgbClr val="0A2342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91" name="Google Shape;291;p10"/>
          <p:cNvSpPr/>
          <p:nvPr/>
        </p:nvSpPr>
        <p:spPr>
          <a:xfrm>
            <a:off x="1448767" y="3510563"/>
            <a:ext cx="197567" cy="332409"/>
          </a:xfrm>
          <a:prstGeom prst="roundRect">
            <a:avLst>
              <a:gd name="adj" fmla="val 12831"/>
            </a:avLst>
          </a:prstGeom>
          <a:solidFill>
            <a:srgbClr val="F4A823">
              <a:alpha val="13333"/>
            </a:srgbClr>
          </a:solidFill>
          <a:ln w="9525" cap="flat" cmpd="sng">
            <a:solidFill>
              <a:srgbClr val="F4A8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7090"/>
              </a:lnSpc>
              <a:spcBef>
                <a:spcPts val="0"/>
              </a:spcBef>
              <a:spcAft>
                <a:spcPts val="0"/>
              </a:spcAft>
              <a:buClr>
                <a:srgbClr val="F4A823"/>
              </a:buClr>
              <a:buSzPts val="1100"/>
              <a:buFont typeface="Poppins"/>
              <a:buNone/>
            </a:pPr>
            <a:r>
              <a:rPr lang="en-US" sz="1050" b="1" i="0" u="none" strike="noStrike" cap="none" dirty="0">
                <a:solidFill>
                  <a:srgbClr val="F4A823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1782568" y="3403109"/>
            <a:ext cx="1854766" cy="198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1200"/>
              </a:lnSpc>
              <a:spcBef>
                <a:spcPts val="0"/>
              </a:spcBef>
              <a:spcAft>
                <a:spcPts val="0"/>
              </a:spcAft>
              <a:buClr>
                <a:srgbClr val="F4A823"/>
              </a:buClr>
              <a:buSzPts val="1000"/>
              <a:buFont typeface="Poppins"/>
              <a:buNone/>
            </a:pPr>
            <a:r>
              <a:rPr lang="en-US" sz="900" b="1" i="0" u="none" strike="noStrike" cap="none" dirty="0">
                <a:solidFill>
                  <a:srgbClr val="F4A823"/>
                </a:solidFill>
                <a:latin typeface="Poppins"/>
                <a:ea typeface="Poppins"/>
                <a:cs typeface="Poppins"/>
                <a:sym typeface="Poppins"/>
              </a:rPr>
              <a:t>Couche IoT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1877602" y="3630520"/>
            <a:ext cx="1875765" cy="342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4A823"/>
              </a:buClr>
              <a:buSzPts val="800"/>
              <a:buFont typeface="DM Sans"/>
              <a:buNone/>
            </a:pPr>
            <a:r>
              <a:rPr lang="en-US" sz="700" b="0" i="0" u="none" strike="noStrike" cap="none" dirty="0">
                <a:solidFill>
                  <a:srgbClr val="F4A823"/>
                </a:solidFill>
                <a:latin typeface="DM Sans"/>
                <a:ea typeface="DM Sans"/>
                <a:cs typeface="DM Sans"/>
                <a:sym typeface="DM Sans"/>
              </a:rPr>
              <a:t>Gestion des communications </a:t>
            </a:r>
            <a:r>
              <a:rPr lang="en-US" sz="700" b="0" i="0" u="none" strike="noStrike" cap="none" dirty="0" err="1">
                <a:solidFill>
                  <a:srgbClr val="F4A823"/>
                </a:solidFill>
                <a:latin typeface="DM Sans"/>
                <a:ea typeface="DM Sans"/>
                <a:cs typeface="DM Sans"/>
                <a:sym typeface="DM Sans"/>
              </a:rPr>
              <a:t>LoRaWAN</a:t>
            </a:r>
            <a:r>
              <a:rPr lang="en-US" sz="700" b="0" i="0" u="none" strike="noStrike" cap="none" dirty="0">
                <a:solidFill>
                  <a:srgbClr val="F4A823"/>
                </a:solidFill>
                <a:latin typeface="DM Sans"/>
                <a:ea typeface="DM Sans"/>
                <a:cs typeface="DM Sans"/>
                <a:sym typeface="DM Sans"/>
              </a:rPr>
              <a:t> · </a:t>
            </a:r>
            <a:r>
              <a:rPr lang="en-US" sz="700" b="0" i="0" u="none" strike="noStrike" cap="none" dirty="0" err="1">
                <a:solidFill>
                  <a:srgbClr val="F4A823"/>
                </a:solidFill>
                <a:latin typeface="DM Sans"/>
                <a:ea typeface="DM Sans"/>
                <a:cs typeface="DM Sans"/>
                <a:sym typeface="DM Sans"/>
              </a:rPr>
              <a:t>Intégration</a:t>
            </a:r>
            <a:r>
              <a:rPr lang="en-US" sz="700" b="0" i="0" u="none" strike="noStrike" cap="none" dirty="0">
                <a:solidFill>
                  <a:srgbClr val="F4A823"/>
                </a:solidFill>
                <a:latin typeface="DM Sans"/>
                <a:ea typeface="DM Sans"/>
                <a:cs typeface="DM Sans"/>
                <a:sym typeface="DM Sans"/>
              </a:rPr>
              <a:t> avec la </a:t>
            </a:r>
            <a:r>
              <a:rPr lang="en-US" sz="700" b="0" i="0" u="none" strike="noStrike" cap="none" dirty="0" err="1">
                <a:solidFill>
                  <a:srgbClr val="F4A823"/>
                </a:solidFill>
                <a:latin typeface="DM Sans"/>
                <a:ea typeface="DM Sans"/>
                <a:cs typeface="DM Sans"/>
                <a:sym typeface="DM Sans"/>
              </a:rPr>
              <a:t>plateforme</a:t>
            </a:r>
            <a:r>
              <a:rPr lang="en-US" sz="700" b="0" i="0" u="none" strike="noStrike" cap="none" dirty="0">
                <a:solidFill>
                  <a:srgbClr val="F4A823"/>
                </a:solidFill>
                <a:latin typeface="DM Sans"/>
                <a:ea typeface="DM Sans"/>
                <a:cs typeface="DM Sans"/>
                <a:sym typeface="DM Sans"/>
              </a:rPr>
              <a:t> IoT</a:t>
            </a:r>
            <a:endParaRPr sz="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273844" y="4668441"/>
            <a:ext cx="8596313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900"/>
              <a:buFont typeface="DM Sans"/>
              <a:buNone/>
            </a:pPr>
            <a:r>
              <a:rPr lang="en-US" sz="900" b="0" i="0" u="none" strike="noStrike" cap="none">
                <a:solidFill>
                  <a:srgbClr val="00C896"/>
                </a:solidFill>
                <a:highlight>
                  <a:srgbClr val="0A2342"/>
                </a:highlight>
                <a:latin typeface="DM Sans"/>
                <a:ea typeface="DM Sans"/>
                <a:cs typeface="DM Sans"/>
                <a:sym typeface="DM Sans"/>
              </a:rPr>
              <a:t>Frontend ⟷ Backend (API) ⟷ Logique Métier ⟷ Base de Données ⟷ IoT Platform (LoRaWAN)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5113809"/>
            <a:ext cx="9144000" cy="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11">
            <a:extLst>
              <a:ext uri="{FF2B5EF4-FFF2-40B4-BE49-F238E27FC236}">
                <a16:creationId xmlns:a16="http://schemas.microsoft.com/office/drawing/2014/main" id="{A16A56D8-230B-EE93-C3B6-8D97C59756FB}"/>
              </a:ext>
            </a:extLst>
          </p:cNvPr>
          <p:cNvSpPr/>
          <p:nvPr/>
        </p:nvSpPr>
        <p:spPr>
          <a:xfrm>
            <a:off x="8617669" y="4886958"/>
            <a:ext cx="252412" cy="1428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b="1" dirty="0">
                <a:solidFill>
                  <a:srgbClr val="00C8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</a:t>
            </a:r>
            <a:r>
              <a:rPr lang="en-US" sz="700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/14</a:t>
            </a:r>
            <a:endParaRPr lang="en-US" sz="7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8794BBB-63C8-C645-1EF2-5D34EB6642B4}"/>
              </a:ext>
            </a:extLst>
          </p:cNvPr>
          <p:cNvPicPr/>
          <p:nvPr/>
        </p:nvPicPr>
        <p:blipFill rotWithShape="1">
          <a:blip r:embed="rId5"/>
          <a:srcRect t="2240" r="24158" b="8401"/>
          <a:stretch/>
        </p:blipFill>
        <p:spPr bwMode="auto">
          <a:xfrm>
            <a:off x="5288467" y="876821"/>
            <a:ext cx="3657966" cy="35352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3" name="Google Shape;303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12"/>
            <a:ext cx="9144000" cy="61912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1"/>
          <p:cNvSpPr/>
          <p:nvPr/>
        </p:nvSpPr>
        <p:spPr>
          <a:xfrm>
            <a:off x="365261" y="410691"/>
            <a:ext cx="2195513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9714"/>
              </a:lnSpc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700"/>
              <a:buFont typeface="Poppins"/>
              <a:buNone/>
            </a:pPr>
            <a:r>
              <a:rPr lang="en-US" sz="700" b="1" i="0" u="none" strike="noStrike" cap="none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IV. CONCLUSION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365261" y="639440"/>
            <a:ext cx="2195513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Poppins"/>
              <a:buNone/>
            </a:pPr>
            <a:r>
              <a:rPr lang="en-US" sz="2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Synthèse &amp;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2500"/>
              <a:buFont typeface="Poppins"/>
              <a:buNone/>
            </a:pPr>
            <a:r>
              <a:rPr lang="en-US" sz="2500" b="1" i="0" u="none" strike="noStrike" cap="none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Perspectives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6" name="Google Shape;306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745" y="1594358"/>
            <a:ext cx="457200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1"/>
          <p:cNvSpPr/>
          <p:nvPr/>
        </p:nvSpPr>
        <p:spPr>
          <a:xfrm>
            <a:off x="365261" y="1736936"/>
            <a:ext cx="2195513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DM Sans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Ce livrable constitue une base solide pour les étapes suivantes du développement du système.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3257550" y="799247"/>
            <a:ext cx="2628900" cy="1569876"/>
          </a:xfrm>
          <a:prstGeom prst="roundRect">
            <a:avLst>
              <a:gd name="adj" fmla="val 4644"/>
            </a:avLst>
          </a:prstGeom>
          <a:solidFill>
            <a:srgbClr val="F5F7FA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3449427" y="936615"/>
            <a:ext cx="366712" cy="366712"/>
          </a:xfrm>
          <a:prstGeom prst="roundRect">
            <a:avLst>
              <a:gd name="adj" fmla="val 12953"/>
            </a:avLst>
          </a:prstGeom>
          <a:solidFill>
            <a:srgbClr val="0A23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0" name="Google Shape;310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41366" y="1028554"/>
            <a:ext cx="182835" cy="18283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1"/>
          <p:cNvSpPr/>
          <p:nvPr/>
        </p:nvSpPr>
        <p:spPr>
          <a:xfrm>
            <a:off x="3450432" y="1380383"/>
            <a:ext cx="2243138" cy="20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Poppins"/>
              <a:buNone/>
            </a:pPr>
            <a:r>
              <a:rPr lang="en-US" sz="1000" b="1" i="0" u="none" strike="noStrike" cap="none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Modélisation UML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3450432" y="1627438"/>
            <a:ext cx="2243138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55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DM Sans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Diagrammes de cas d'utilisation, de classes et de séquence offrant une vision claire des besoins fonctionnels et techniques.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6115088" y="799247"/>
            <a:ext cx="2628900" cy="1500188"/>
          </a:xfrm>
          <a:prstGeom prst="roundRect">
            <a:avLst>
              <a:gd name="adj" fmla="val 4644"/>
            </a:avLst>
          </a:prstGeom>
          <a:solidFill>
            <a:srgbClr val="EEF9F5"/>
          </a:solidFill>
          <a:ln w="9525" cap="flat" cmpd="sng">
            <a:solidFill>
              <a:srgbClr val="00C8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6306927" y="936615"/>
            <a:ext cx="366712" cy="366712"/>
          </a:xfrm>
          <a:prstGeom prst="roundRect">
            <a:avLst>
              <a:gd name="adj" fmla="val 12953"/>
            </a:avLst>
          </a:prstGeom>
          <a:solidFill>
            <a:srgbClr val="00C8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5" name="Google Shape;315;p1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8866" y="1028554"/>
            <a:ext cx="182835" cy="18283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1"/>
          <p:cNvSpPr/>
          <p:nvPr/>
        </p:nvSpPr>
        <p:spPr>
          <a:xfrm>
            <a:off x="6307969" y="1380383"/>
            <a:ext cx="2243138" cy="20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Poppins"/>
              <a:buNone/>
            </a:pPr>
            <a:r>
              <a:rPr lang="en-US" sz="1000" b="1" i="0" u="none" strike="noStrike" cap="none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Architecture Hardware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6307969" y="1627438"/>
            <a:ext cx="2243138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55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lang="en-US" sz="800" b="0" i="0" u="none" strike="noStrike" cap="non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Capteur EM310-UDL → LoRaWAN → Passerelle → Serveur/Cloud → Terminal utilisateur.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3257550" y="2720858"/>
            <a:ext cx="2628900" cy="1481137"/>
          </a:xfrm>
          <a:prstGeom prst="roundRect">
            <a:avLst>
              <a:gd name="adj" fmla="val 4764"/>
            </a:avLst>
          </a:prstGeom>
          <a:solidFill>
            <a:srgbClr val="FFF8EB"/>
          </a:solidFill>
          <a:ln w="9525" cap="flat" cmpd="sng">
            <a:solidFill>
              <a:srgbClr val="F4A8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3449427" y="2858226"/>
            <a:ext cx="366712" cy="366712"/>
          </a:xfrm>
          <a:prstGeom prst="roundRect">
            <a:avLst>
              <a:gd name="adj" fmla="val 12953"/>
            </a:avLst>
          </a:prstGeom>
          <a:solidFill>
            <a:srgbClr val="F4A8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0" name="Google Shape;320;p1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41366" y="2950165"/>
            <a:ext cx="182835" cy="18283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1"/>
          <p:cNvSpPr/>
          <p:nvPr/>
        </p:nvSpPr>
        <p:spPr>
          <a:xfrm>
            <a:off x="3450432" y="3301995"/>
            <a:ext cx="2243138" cy="20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00"/>
              <a:buFont typeface="Poppins"/>
              <a:buNone/>
            </a:pPr>
            <a:r>
              <a:rPr lang="en-US" sz="1000" b="1" i="0" u="none" strike="noStrike" cap="none">
                <a:solidFill>
                  <a:srgbClr val="0A2342"/>
                </a:solidFill>
                <a:latin typeface="Poppins"/>
                <a:ea typeface="Poppins"/>
                <a:cs typeface="Poppins"/>
                <a:sym typeface="Poppins"/>
              </a:rPr>
              <a:t>Architecture Software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3450432" y="3548007"/>
            <a:ext cx="2243138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55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DM Sans"/>
              <a:buNone/>
            </a:pPr>
            <a:r>
              <a:rPr lang="en-US" sz="800" b="0" i="0" u="none" strike="noStrike" cap="non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5 couches : Présentation · API/Backend · Logique Métier · Données · IoT.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6115088" y="2720858"/>
            <a:ext cx="2628900" cy="1481137"/>
          </a:xfrm>
          <a:prstGeom prst="roundRect">
            <a:avLst>
              <a:gd name="adj" fmla="val 4764"/>
            </a:avLst>
          </a:prstGeom>
          <a:solidFill>
            <a:srgbClr val="0A23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6297402" y="2848701"/>
            <a:ext cx="366712" cy="366712"/>
          </a:xfrm>
          <a:prstGeom prst="roundRect">
            <a:avLst>
              <a:gd name="adj" fmla="val 12953"/>
            </a:avLst>
          </a:prstGeom>
          <a:solidFill>
            <a:srgbClr val="00C896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5" name="Google Shape;325;p1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9341" y="2940640"/>
            <a:ext cx="182835" cy="18283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1"/>
          <p:cNvSpPr/>
          <p:nvPr/>
        </p:nvSpPr>
        <p:spPr>
          <a:xfrm>
            <a:off x="6298444" y="3292470"/>
            <a:ext cx="2262187" cy="20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000"/>
              <a:buFont typeface="Poppins"/>
              <a:buNone/>
            </a:pPr>
            <a:r>
              <a:rPr lang="en-US" sz="1000" b="1" i="0" u="none" strike="noStrike" cap="none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Perspectives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6298444" y="3539524"/>
            <a:ext cx="226218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5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Base solide pour la réalisation technique et le déploiement dans un environnement réel (smart city / IoT).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8" name="Google Shape;328;p11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5113809"/>
            <a:ext cx="9144000" cy="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11">
            <a:extLst>
              <a:ext uri="{FF2B5EF4-FFF2-40B4-BE49-F238E27FC236}">
                <a16:creationId xmlns:a16="http://schemas.microsoft.com/office/drawing/2014/main" id="{A55976B0-067C-F65E-201D-690595F50EAC}"/>
              </a:ext>
            </a:extLst>
          </p:cNvPr>
          <p:cNvSpPr/>
          <p:nvPr/>
        </p:nvSpPr>
        <p:spPr>
          <a:xfrm>
            <a:off x="8617669" y="4886958"/>
            <a:ext cx="252412" cy="1428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b="1" dirty="0">
                <a:solidFill>
                  <a:srgbClr val="00C8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</a:t>
            </a:r>
            <a:r>
              <a:rPr lang="en-US" sz="700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/14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5" name="Google Shape;335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12"/>
            <a:ext cx="9144000" cy="61912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2"/>
          <p:cNvSpPr/>
          <p:nvPr/>
        </p:nvSpPr>
        <p:spPr>
          <a:xfrm>
            <a:off x="457498" y="258105"/>
            <a:ext cx="405288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oppins"/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Bibliographie &amp; Webographie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7" name="Google Shape;337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38666" y="455749"/>
            <a:ext cx="547687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2"/>
          <p:cNvSpPr/>
          <p:nvPr/>
        </p:nvSpPr>
        <p:spPr>
          <a:xfrm>
            <a:off x="456233" y="873398"/>
            <a:ext cx="276225" cy="276225"/>
          </a:xfrm>
          <a:prstGeom prst="roundRect">
            <a:avLst>
              <a:gd name="adj" fmla="val 17122"/>
            </a:avLst>
          </a:prstGeom>
          <a:solidFill>
            <a:srgbClr val="00C8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9" name="Google Shape;339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5735" y="942901"/>
            <a:ext cx="137145" cy="13714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2"/>
          <p:cNvSpPr/>
          <p:nvPr/>
        </p:nvSpPr>
        <p:spPr>
          <a:xfrm>
            <a:off x="822201" y="887685"/>
            <a:ext cx="113823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200"/>
              <a:buFont typeface="Poppins"/>
              <a:buNone/>
            </a:pPr>
            <a:r>
              <a:rPr lang="en-US" sz="1200" b="1" i="0" u="none" strike="noStrike" cap="none">
                <a:solidFill>
                  <a:srgbClr val="00C896"/>
                </a:solidFill>
                <a:latin typeface="Poppins"/>
                <a:ea typeface="Poppins"/>
                <a:cs typeface="Poppins"/>
                <a:sym typeface="Poppins"/>
              </a:rPr>
              <a:t>Bibliographie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456047" y="1306896"/>
            <a:ext cx="58306" cy="62257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2"/>
          <p:cNvSpPr/>
          <p:nvPr/>
        </p:nvSpPr>
        <p:spPr>
          <a:xfrm>
            <a:off x="603757" y="1276499"/>
            <a:ext cx="3342859" cy="166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Kevin Ashton – That 'Internet of Things' Thing, RFID Journal, 2009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456047" y="1529766"/>
            <a:ext cx="58306" cy="62257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2"/>
          <p:cNvSpPr/>
          <p:nvPr/>
        </p:nvSpPr>
        <p:spPr>
          <a:xfrm>
            <a:off x="603163" y="1501006"/>
            <a:ext cx="3862752" cy="32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Dave Evans – The IoT: How the Next Evolution of the Internet Is Changing Everything, Cisco, 2011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456047" y="1903548"/>
            <a:ext cx="58306" cy="62257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2"/>
          <p:cNvSpPr/>
          <p:nvPr/>
        </p:nvSpPr>
        <p:spPr>
          <a:xfrm>
            <a:off x="603163" y="1874788"/>
            <a:ext cx="3862752" cy="32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lang="en-US" sz="8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H. </a:t>
            </a:r>
            <a:r>
              <a:rPr lang="en-US" sz="8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Sundmaeker</a:t>
            </a:r>
            <a:r>
              <a:rPr lang="en-US" sz="8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et al. – Vision and Challenges for </a:t>
            </a:r>
            <a:r>
              <a:rPr lang="en-US" sz="8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Realising</a:t>
            </a:r>
            <a:r>
              <a:rPr lang="en-US" sz="8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the IoT, European Commission, 2010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456047" y="2277330"/>
            <a:ext cx="58306" cy="62257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2"/>
          <p:cNvSpPr/>
          <p:nvPr/>
        </p:nvSpPr>
        <p:spPr>
          <a:xfrm>
            <a:off x="603163" y="2248570"/>
            <a:ext cx="3862752" cy="32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Andrea Zanella et al. – Internet of Things for Smart Cities, IEEE IoT Journal, 2014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456047" y="2651112"/>
            <a:ext cx="58306" cy="62257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2"/>
          <p:cNvSpPr/>
          <p:nvPr/>
        </p:nvSpPr>
        <p:spPr>
          <a:xfrm>
            <a:off x="604279" y="2620714"/>
            <a:ext cx="3007601" cy="166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Taewoo Nam &amp; T. Pardo – Conceptualizing Smart City, 2011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4753868" y="873398"/>
            <a:ext cx="276225" cy="276225"/>
          </a:xfrm>
          <a:prstGeom prst="roundRect">
            <a:avLst>
              <a:gd name="adj" fmla="val 17122"/>
            </a:avLst>
          </a:prstGeom>
          <a:solidFill>
            <a:srgbClr val="F4A8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2" name="Google Shape;352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23371" y="942901"/>
            <a:ext cx="137145" cy="13714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2"/>
          <p:cNvSpPr/>
          <p:nvPr/>
        </p:nvSpPr>
        <p:spPr>
          <a:xfrm>
            <a:off x="5120543" y="887685"/>
            <a:ext cx="1157288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4A823"/>
              </a:buClr>
              <a:buSzPts val="1200"/>
              <a:buFont typeface="Poppins"/>
              <a:buNone/>
            </a:pPr>
            <a:r>
              <a:rPr lang="en-US" sz="1200" b="1" i="0" u="none" strike="noStrike" cap="none">
                <a:solidFill>
                  <a:srgbClr val="F4A823"/>
                </a:solidFill>
                <a:latin typeface="Poppins"/>
                <a:ea typeface="Poppins"/>
                <a:cs typeface="Poppins"/>
                <a:sym typeface="Poppins"/>
              </a:rPr>
              <a:t>Webographie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4753905" y="1277541"/>
            <a:ext cx="4138635" cy="423862"/>
          </a:xfrm>
          <a:prstGeom prst="roundRect">
            <a:avLst>
              <a:gd name="adj" fmla="val 7272"/>
            </a:avLst>
          </a:prstGeom>
          <a:solidFill>
            <a:srgbClr val="FFFFFF">
              <a:alpha val="5882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2"/>
          <p:cNvSpPr/>
          <p:nvPr/>
        </p:nvSpPr>
        <p:spPr>
          <a:xfrm>
            <a:off x="4895776" y="1465659"/>
            <a:ext cx="50105" cy="47625"/>
          </a:xfrm>
          <a:prstGeom prst="ellipse">
            <a:avLst/>
          </a:prstGeom>
          <a:solidFill>
            <a:srgbClr val="F4A8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2"/>
          <p:cNvSpPr/>
          <p:nvPr/>
        </p:nvSpPr>
        <p:spPr>
          <a:xfrm>
            <a:off x="5052194" y="1328291"/>
            <a:ext cx="154322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DM Sans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Milesight IoT – EM310-UDL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5053161" y="1504504"/>
            <a:ext cx="1478084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9714"/>
              </a:lnSpc>
              <a:spcBef>
                <a:spcPts val="0"/>
              </a:spcBef>
              <a:spcAft>
                <a:spcPts val="0"/>
              </a:spcAft>
              <a:buClr>
                <a:srgbClr val="F4A823"/>
              </a:buClr>
              <a:buSzPts val="700"/>
              <a:buFont typeface="DM Sans"/>
              <a:buNone/>
            </a:pPr>
            <a:r>
              <a:rPr lang="en-US" sz="700" b="0" i="0" u="none" strike="noStrike" cap="none">
                <a:solidFill>
                  <a:srgbClr val="F4A823"/>
                </a:solidFill>
                <a:latin typeface="DM Sans"/>
                <a:ea typeface="DM Sans"/>
                <a:cs typeface="DM Sans"/>
                <a:sym typeface="DM Sans"/>
              </a:rPr>
              <a:t>https://www.milesight-iot.com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4753905" y="1763688"/>
            <a:ext cx="4138635" cy="423862"/>
          </a:xfrm>
          <a:prstGeom prst="roundRect">
            <a:avLst>
              <a:gd name="adj" fmla="val 7272"/>
            </a:avLst>
          </a:prstGeom>
          <a:solidFill>
            <a:srgbClr val="FFFFFF">
              <a:alpha val="5882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2"/>
          <p:cNvSpPr/>
          <p:nvPr/>
        </p:nvSpPr>
        <p:spPr>
          <a:xfrm>
            <a:off x="4895776" y="1951806"/>
            <a:ext cx="50105" cy="47625"/>
          </a:xfrm>
          <a:prstGeom prst="ellipse">
            <a:avLst/>
          </a:prstGeom>
          <a:solidFill>
            <a:srgbClr val="F4A8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2"/>
          <p:cNvSpPr/>
          <p:nvPr/>
        </p:nvSpPr>
        <p:spPr>
          <a:xfrm>
            <a:off x="5052640" y="1814438"/>
            <a:ext cx="14680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DM Sans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LoRa Alliance – LoRaWAN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5053050" y="1990651"/>
            <a:ext cx="1142384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9714"/>
              </a:lnSpc>
              <a:spcBef>
                <a:spcPts val="0"/>
              </a:spcBef>
              <a:spcAft>
                <a:spcPts val="0"/>
              </a:spcAft>
              <a:buClr>
                <a:srgbClr val="F4A823"/>
              </a:buClr>
              <a:buSzPts val="700"/>
              <a:buFont typeface="DM Sans"/>
              <a:buNone/>
            </a:pPr>
            <a:r>
              <a:rPr lang="en-US" sz="700" b="0" i="0" u="none" strike="noStrike" cap="none">
                <a:solidFill>
                  <a:srgbClr val="F4A823"/>
                </a:solidFill>
                <a:latin typeface="DM Sans"/>
                <a:ea typeface="DM Sans"/>
                <a:cs typeface="DM Sans"/>
                <a:sym typeface="DM Sans"/>
              </a:rPr>
              <a:t>https://lora-alliance.org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4753905" y="2249835"/>
            <a:ext cx="4138635" cy="423862"/>
          </a:xfrm>
          <a:prstGeom prst="roundRect">
            <a:avLst>
              <a:gd name="adj" fmla="val 7272"/>
            </a:avLst>
          </a:prstGeom>
          <a:solidFill>
            <a:srgbClr val="FFFFFF">
              <a:alpha val="5882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2"/>
          <p:cNvSpPr/>
          <p:nvPr/>
        </p:nvSpPr>
        <p:spPr>
          <a:xfrm>
            <a:off x="4895776" y="2437954"/>
            <a:ext cx="50105" cy="47625"/>
          </a:xfrm>
          <a:prstGeom prst="ellipse">
            <a:avLst/>
          </a:prstGeom>
          <a:solidFill>
            <a:srgbClr val="F4A8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2"/>
          <p:cNvSpPr/>
          <p:nvPr/>
        </p:nvSpPr>
        <p:spPr>
          <a:xfrm>
            <a:off x="5052639" y="2300585"/>
            <a:ext cx="223967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DM Sans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Things Network – IoT Open Source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5052863" y="2476798"/>
            <a:ext cx="1648439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9714"/>
              </a:lnSpc>
              <a:spcBef>
                <a:spcPts val="0"/>
              </a:spcBef>
              <a:spcAft>
                <a:spcPts val="0"/>
              </a:spcAft>
              <a:buClr>
                <a:srgbClr val="F4A823"/>
              </a:buClr>
              <a:buSzPts val="700"/>
              <a:buFont typeface="DM Sans"/>
              <a:buNone/>
            </a:pPr>
            <a:r>
              <a:rPr lang="en-US" sz="700" b="0" i="0" u="none" strike="noStrike" cap="none">
                <a:solidFill>
                  <a:srgbClr val="F4A823"/>
                </a:solidFill>
                <a:latin typeface="DM Sans"/>
                <a:ea typeface="DM Sans"/>
                <a:cs typeface="DM Sans"/>
                <a:sym typeface="DM Sans"/>
              </a:rPr>
              <a:t>https://www.thethingsnetwork.org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4753905" y="2735982"/>
            <a:ext cx="4138635" cy="423862"/>
          </a:xfrm>
          <a:prstGeom prst="roundRect">
            <a:avLst>
              <a:gd name="adj" fmla="val 7272"/>
            </a:avLst>
          </a:prstGeom>
          <a:solidFill>
            <a:srgbClr val="FFFFFF">
              <a:alpha val="5882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2"/>
          <p:cNvSpPr/>
          <p:nvPr/>
        </p:nvSpPr>
        <p:spPr>
          <a:xfrm>
            <a:off x="4895776" y="2924101"/>
            <a:ext cx="50105" cy="47625"/>
          </a:xfrm>
          <a:prstGeom prst="ellipse">
            <a:avLst/>
          </a:prstGeom>
          <a:solidFill>
            <a:srgbClr val="F4A8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2"/>
          <p:cNvSpPr/>
          <p:nvPr/>
        </p:nvSpPr>
        <p:spPr>
          <a:xfrm>
            <a:off x="5053199" y="2786732"/>
            <a:ext cx="148810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DM Sans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Cisco – Internet of Things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5053273" y="2962945"/>
            <a:ext cx="1112321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9714"/>
              </a:lnSpc>
              <a:spcBef>
                <a:spcPts val="0"/>
              </a:spcBef>
              <a:spcAft>
                <a:spcPts val="0"/>
              </a:spcAft>
              <a:buClr>
                <a:srgbClr val="F4A823"/>
              </a:buClr>
              <a:buSzPts val="700"/>
              <a:buFont typeface="DM Sans"/>
              <a:buNone/>
            </a:pPr>
            <a:r>
              <a:rPr lang="en-US" sz="700" b="0" i="0" u="none" strike="noStrike" cap="none">
                <a:solidFill>
                  <a:srgbClr val="F4A823"/>
                </a:solidFill>
                <a:latin typeface="DM Sans"/>
                <a:ea typeface="DM Sans"/>
                <a:cs typeface="DM Sans"/>
                <a:sym typeface="DM Sans"/>
              </a:rPr>
              <a:t>https://www.cisco.com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4753905" y="3222129"/>
            <a:ext cx="4138635" cy="423862"/>
          </a:xfrm>
          <a:prstGeom prst="roundRect">
            <a:avLst>
              <a:gd name="adj" fmla="val 7272"/>
            </a:avLst>
          </a:prstGeom>
          <a:solidFill>
            <a:srgbClr val="FFFFFF">
              <a:alpha val="5882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2"/>
          <p:cNvSpPr/>
          <p:nvPr/>
        </p:nvSpPr>
        <p:spPr>
          <a:xfrm>
            <a:off x="4895776" y="3410248"/>
            <a:ext cx="50105" cy="47625"/>
          </a:xfrm>
          <a:prstGeom prst="ellipse">
            <a:avLst/>
          </a:prstGeom>
          <a:solidFill>
            <a:srgbClr val="F4A8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2"/>
          <p:cNvSpPr/>
          <p:nvPr/>
        </p:nvSpPr>
        <p:spPr>
          <a:xfrm>
            <a:off x="5051338" y="3272879"/>
            <a:ext cx="1653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DM Sans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Nations Unies – Smart Cities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5051673" y="3449092"/>
            <a:ext cx="916914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9714"/>
              </a:lnSpc>
              <a:spcBef>
                <a:spcPts val="0"/>
              </a:spcBef>
              <a:spcAft>
                <a:spcPts val="0"/>
              </a:spcAft>
              <a:buClr>
                <a:srgbClr val="F4A823"/>
              </a:buClr>
              <a:buSzPts val="700"/>
              <a:buFont typeface="DM Sans"/>
              <a:buNone/>
            </a:pPr>
            <a:r>
              <a:rPr lang="en-US" sz="700" b="0" i="0" u="none" strike="noStrike" cap="none">
                <a:solidFill>
                  <a:srgbClr val="F4A823"/>
                </a:solidFill>
                <a:latin typeface="DM Sans"/>
                <a:ea typeface="DM Sans"/>
                <a:cs typeface="DM Sans"/>
                <a:sym typeface="DM Sans"/>
              </a:rPr>
              <a:t>https://www.un.org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4" name="Google Shape;374;p1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5113809"/>
            <a:ext cx="9144000" cy="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11">
            <a:extLst>
              <a:ext uri="{FF2B5EF4-FFF2-40B4-BE49-F238E27FC236}">
                <a16:creationId xmlns:a16="http://schemas.microsoft.com/office/drawing/2014/main" id="{987A8BF6-6214-CC1F-C7B3-4D43A625B080}"/>
              </a:ext>
            </a:extLst>
          </p:cNvPr>
          <p:cNvSpPr/>
          <p:nvPr/>
        </p:nvSpPr>
        <p:spPr>
          <a:xfrm>
            <a:off x="8617669" y="4886958"/>
            <a:ext cx="252412" cy="1428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b="1" dirty="0">
                <a:solidFill>
                  <a:srgbClr val="00C8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</a:t>
            </a:r>
            <a:r>
              <a:rPr lang="en-US" sz="700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/14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" name="Shape 1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00C896">
              <a:alpha val="7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" name="Shape 2"/>
          <p:cNvSpPr/>
          <p:nvPr/>
        </p:nvSpPr>
        <p:spPr>
          <a:xfrm>
            <a:off x="7132290" y="3131790"/>
            <a:ext cx="2743200" cy="2743200"/>
          </a:xfrm>
          <a:prstGeom prst="ellipse">
            <a:avLst/>
          </a:prstGeom>
          <a:solidFill>
            <a:srgbClr val="F4A823">
              <a:alpha val="7000"/>
            </a:srgbClr>
          </a:solidFill>
          <a:ln/>
        </p:spPr>
        <p:txBody>
          <a:bodyPr/>
          <a:lstStyle/>
          <a:p>
            <a:endParaRPr lang="fr-M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079"/>
            <a:ext cx="9144000" cy="381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800" y="686767"/>
            <a:ext cx="914400" cy="91440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915367"/>
            <a:ext cx="457200" cy="457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909888" y="1780431"/>
            <a:ext cx="332422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88"/>
              </a:lnSpc>
              <a:spcAft>
                <a:spcPts val="607"/>
              </a:spcAft>
              <a:buNone/>
            </a:pPr>
            <a:r>
              <a:rPr lang="en-US" sz="700" b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 DE PRÉSENTATION</a:t>
            </a:r>
            <a:endParaRPr lang="en-US" sz="700" dirty="0"/>
          </a:p>
        </p:txBody>
      </p:sp>
      <p:sp>
        <p:nvSpPr>
          <p:cNvPr id="9" name="Text 4"/>
          <p:cNvSpPr/>
          <p:nvPr/>
        </p:nvSpPr>
        <p:spPr>
          <a:xfrm>
            <a:off x="2909888" y="2008212"/>
            <a:ext cx="3324225" cy="504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960"/>
              </a:lnSpc>
              <a:buNone/>
            </a:pPr>
            <a:r>
              <a:rPr lang="en-US" sz="3900" b="1" dirty="0">
                <a:solidFill>
                  <a:srgbClr val="0A23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Merci pour</a:t>
            </a:r>
            <a:endParaRPr lang="en-US" sz="3900" dirty="0"/>
          </a:p>
        </p:txBody>
      </p:sp>
      <p:sp>
        <p:nvSpPr>
          <p:cNvPr id="10" name="Text 5"/>
          <p:cNvSpPr/>
          <p:nvPr/>
        </p:nvSpPr>
        <p:spPr>
          <a:xfrm>
            <a:off x="2909888" y="2511103"/>
            <a:ext cx="3324225" cy="504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960"/>
              </a:lnSpc>
              <a:buNone/>
            </a:pPr>
            <a:r>
              <a:rPr lang="en-US" sz="3900" b="1" dirty="0">
                <a:solidFill>
                  <a:srgbClr val="00C8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votre écoute</a:t>
            </a:r>
            <a:endParaRPr lang="en-US" sz="3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05288" y="3194410"/>
            <a:ext cx="733425" cy="190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224300" y="3392425"/>
            <a:ext cx="69532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RÉALISÉ PAR</a:t>
            </a:r>
            <a:endParaRPr lang="en-US" sz="700" dirty="0"/>
          </a:p>
        </p:txBody>
      </p:sp>
      <p:sp>
        <p:nvSpPr>
          <p:cNvPr id="13" name="Text 7"/>
          <p:cNvSpPr/>
          <p:nvPr/>
        </p:nvSpPr>
        <p:spPr>
          <a:xfrm>
            <a:off x="2314538" y="3608152"/>
            <a:ext cx="45148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Saad </a:t>
            </a:r>
            <a:r>
              <a:rPr lang="en-US" sz="900" b="1" dirty="0" err="1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Fettah</a:t>
            </a:r>
            <a:r>
              <a:rPr lang="en-US" sz="900" b="1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|  Boubker Cheyoukh  |  Abderrazzak </a:t>
            </a:r>
            <a:r>
              <a:rPr lang="en-US" sz="900" b="1" dirty="0" err="1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Elatmani</a:t>
            </a:r>
            <a:r>
              <a:rPr lang="en-US" sz="900" b="1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|  Mehdi Salek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3571838" y="3861718"/>
            <a:ext cx="200025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>
              <a:lnSpc>
                <a:spcPts val="1188"/>
              </a:lnSpc>
            </a:pPr>
            <a:r>
              <a:rPr lang="en-US" sz="7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Encadré par </a:t>
            </a:r>
            <a:r>
              <a:rPr lang="en-US" sz="700" b="1" dirty="0">
                <a:solidFill>
                  <a:srgbClr val="F4A8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Mme. Bouhadou</a:t>
            </a:r>
            <a:r>
              <a:rPr lang="en-US" sz="7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&amp; </a:t>
            </a:r>
            <a:r>
              <a:rPr lang="en-US" sz="700" b="1" dirty="0">
                <a:solidFill>
                  <a:srgbClr val="FFC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Mme. WAHIA</a:t>
            </a:r>
            <a:endParaRPr lang="en-US" sz="700" b="1" dirty="0">
              <a:solidFill>
                <a:srgbClr val="FFC000"/>
              </a:solidFill>
            </a:endParaRPr>
          </a:p>
          <a:p>
            <a:pPr marL="0" indent="0" algn="ctr">
              <a:lnSpc>
                <a:spcPts val="1188"/>
              </a:lnSpc>
              <a:buNone/>
            </a:pPr>
            <a:endParaRPr lang="en-US" sz="700" dirty="0"/>
          </a:p>
        </p:txBody>
      </p:sp>
      <p:sp>
        <p:nvSpPr>
          <p:cNvPr id="15" name="Shape 9"/>
          <p:cNvSpPr/>
          <p:nvPr/>
        </p:nvSpPr>
        <p:spPr>
          <a:xfrm>
            <a:off x="2485988" y="4194051"/>
            <a:ext cx="4171950" cy="261937"/>
          </a:xfrm>
          <a:prstGeom prst="roundRect">
            <a:avLst>
              <a:gd name="adj" fmla="val 25388"/>
            </a:avLst>
          </a:prstGeom>
          <a:solidFill>
            <a:srgbClr val="F8FAFC"/>
          </a:solidFill>
          <a:ln w="4763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6" name="Text 10"/>
          <p:cNvSpPr/>
          <p:nvPr/>
        </p:nvSpPr>
        <p:spPr>
          <a:xfrm>
            <a:off x="2764594" y="4248820"/>
            <a:ext cx="3614738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88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Système Intelligent de Gestion des Poubelles · LoRaWAN · HESTIM 2025–2026</a:t>
            </a:r>
            <a:endParaRPr lang="en-US" sz="700" dirty="0"/>
          </a:p>
        </p:txBody>
      </p:sp>
      <p:sp>
        <p:nvSpPr>
          <p:cNvPr id="17" name="Text 11"/>
          <p:cNvSpPr/>
          <p:nvPr/>
        </p:nvSpPr>
        <p:spPr>
          <a:xfrm>
            <a:off x="8551329" y="4886958"/>
            <a:ext cx="319088" cy="1428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b="1" dirty="0">
                <a:solidFill>
                  <a:srgbClr val="00C8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</a:t>
            </a:r>
            <a:r>
              <a:rPr lang="en-US" sz="700" dirty="0">
                <a:solidFill>
                  <a:srgbClr val="0A23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/14</a:t>
            </a:r>
            <a:endParaRPr lang="en-US" sz="7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5118757"/>
            <a:ext cx="9144000" cy="238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691</Words>
  <Application>Microsoft Office PowerPoint</Application>
  <PresentationFormat>Affichage à l'écran (16:9)</PresentationFormat>
  <Paragraphs>149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Poppins</vt:lpstr>
      <vt:lpstr>DM Sans</vt:lpstr>
      <vt:lpstr>Calibri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boubker cheyoukh</cp:lastModifiedBy>
  <cp:revision>16</cp:revision>
  <dcterms:modified xsi:type="dcterms:W3CDTF">2026-04-09T10:10:19Z</dcterms:modified>
</cp:coreProperties>
</file>